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2"/>
  </p:handoutMasterIdLst>
  <p:sldIdLst>
    <p:sldId id="331" r:id="rId3"/>
    <p:sldId id="257" r:id="rId4"/>
    <p:sldId id="256" r:id="rId5"/>
    <p:sldId id="314" r:id="rId6"/>
    <p:sldId id="259" r:id="rId7"/>
    <p:sldId id="258" r:id="rId8"/>
    <p:sldId id="301" r:id="rId9"/>
    <p:sldId id="270" r:id="rId10"/>
    <p:sldId id="282" r:id="rId11"/>
    <p:sldId id="265" r:id="rId12"/>
    <p:sldId id="292" r:id="rId13"/>
    <p:sldId id="293" r:id="rId14"/>
    <p:sldId id="269" r:id="rId15"/>
    <p:sldId id="268" r:id="rId16"/>
    <p:sldId id="300" r:id="rId17"/>
    <p:sldId id="266" r:id="rId18"/>
    <p:sldId id="280" r:id="rId19"/>
    <p:sldId id="262" r:id="rId20"/>
    <p:sldId id="264" r:id="rId21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234"/>
      </p:cViewPr>
      <p:guideLst>
        <p:guide orient="horz" pos="2172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14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EC56-8E46-498C-9F82-A1E67B0017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617E-3889-48F8-A988-C1F6B731C0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6"/>
            <a:ext cx="10515600" cy="97022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1259724" y="1567346"/>
            <a:ext cx="4701840" cy="7100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1259724" y="2338388"/>
            <a:ext cx="4701840" cy="37859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289616" y="1567346"/>
            <a:ext cx="4701841" cy="71009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>
              <a:buNone/>
              <a:defRPr lang="zh-CN" altLang="en-US" b="0" smtClean="0"/>
            </a:lvl1pPr>
          </a:lstStyle>
          <a:p>
            <a:pPr marL="0" lvl="0" indent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289616" y="2357460"/>
            <a:ext cx="4701841" cy="37668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0D4851DC-CD24-4E20-AC43-84D4817493C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75F1D1A5-9DB9-47CE-AB47-B90B00FE3C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EB018836-6699-441E-9BAB-C61FC75AFD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3040BF0B-87F8-415C-BAC5-F65F41346B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4="http://schemas.microsoft.com/office/powerpoint/2010/main" Requires="p14">
      <p:transition spd="slow" p14:dur="1600">
        <p:fade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tags" Target="../tags/tag5.xml"/><Relationship Id="rId4" Type="http://schemas.openxmlformats.org/officeDocument/2006/relationships/image" Target="../media/image10.png"/><Relationship Id="rId3" Type="http://schemas.openxmlformats.org/officeDocument/2006/relationships/tags" Target="../tags/tag4.xml"/><Relationship Id="rId2" Type="http://schemas.openxmlformats.org/officeDocument/2006/relationships/image" Target="../media/image9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hyperlink" Target="https://b23.tv/G48gA3x" TargetMode="Externa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image" Target="../media/image15.png"/><Relationship Id="rId5" Type="http://schemas.openxmlformats.org/officeDocument/2006/relationships/tags" Target="../tags/tag12.xml"/><Relationship Id="rId4" Type="http://schemas.openxmlformats.org/officeDocument/2006/relationships/image" Target="../media/image14.png"/><Relationship Id="rId3" Type="http://schemas.openxmlformats.org/officeDocument/2006/relationships/tags" Target="../tags/tag11.xml"/><Relationship Id="rId2" Type="http://schemas.openxmlformats.org/officeDocument/2006/relationships/image" Target="../media/image13.png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tags" Target="../tags/tag16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Relationship Id="rId3" Type="http://schemas.openxmlformats.org/officeDocument/2006/relationships/hyperlink" Target="https://b23.tv/znRPHI0" TargetMode="External"/><Relationship Id="rId2" Type="http://schemas.openxmlformats.org/officeDocument/2006/relationships/hyperlink" Target="https://b23.tv/BgotVZH" TargetMode="Externa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tags" Target="../tags/tag26.xml"/><Relationship Id="rId2" Type="http://schemas.openxmlformats.org/officeDocument/2006/relationships/image" Target="../media/image23.png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2025-06-15 15:14:52.347000"/>
          <p:cNvPicPr>
            <a:picLocks noChangeAspect="1"/>
          </p:cNvPicPr>
          <p:nvPr/>
        </p:nvPicPr>
        <p:blipFill>
          <a:blip r:embed="rId2"/>
          <a:srcRect l="-77" r="77" b="61233"/>
          <a:stretch>
            <a:fillRect/>
          </a:stretch>
        </p:blipFill>
        <p:spPr>
          <a:xfrm>
            <a:off x="3825240" y="226695"/>
            <a:ext cx="8585267" cy="1872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69275" y="4799965"/>
            <a:ext cx="3419475" cy="1137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第二学习</a:t>
            </a:r>
            <a:r>
              <a:rPr lang="en-US" altLang="zh-CN" sz="28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小组</a:t>
            </a:r>
            <a:endParaRPr lang="en-US" altLang="zh-CN" sz="28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2025/06/17</a:t>
            </a:r>
            <a:endParaRPr lang="en-US" altLang="zh-CN" sz="28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15465" y="879475"/>
            <a:ext cx="1472565" cy="3044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目</a:t>
            </a:r>
            <a:endParaRPr lang="zh-CN" altLang="en-US" sz="72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录</a:t>
            </a:r>
            <a:endParaRPr lang="zh-CN" altLang="en-US" sz="72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9165" y="524510"/>
            <a:ext cx="2619375" cy="1162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 b="1">
                <a:solidFill>
                  <a:schemeClr val="bg1"/>
                </a:solidFill>
                <a:latin typeface="Arial" charset="0"/>
                <a:ea typeface="Arial" charset="0"/>
              </a:rPr>
              <a:t>CONTENTS</a:t>
            </a:r>
            <a:endParaRPr lang="en-US" altLang="zh-CN" sz="2400" b="1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pic>
        <p:nvPicPr>
          <p:cNvPr id="4" name="图片 3" descr="2025-06-15 02:25:24.864000"/>
          <p:cNvPicPr>
            <a:picLocks noChangeAspect="1"/>
          </p:cNvPicPr>
          <p:nvPr/>
        </p:nvPicPr>
        <p:blipFill>
          <a:blip r:embed="rId1"/>
          <a:srcRect l="-134" r="403" b="26087"/>
          <a:stretch>
            <a:fillRect/>
          </a:stretch>
        </p:blipFill>
        <p:spPr>
          <a:xfrm>
            <a:off x="7411720" y="-12700"/>
            <a:ext cx="4783455" cy="1972310"/>
          </a:xfrm>
          <a:prstGeom prst="rect">
            <a:avLst/>
          </a:prstGeom>
        </p:spPr>
      </p:pic>
      <p:pic>
        <p:nvPicPr>
          <p:cNvPr id="10" name="图片 9" descr="2025-06-15 02:32:44.163000"/>
          <p:cNvPicPr>
            <a:picLocks noChangeAspect="1"/>
          </p:cNvPicPr>
          <p:nvPr/>
        </p:nvPicPr>
        <p:blipFill>
          <a:blip r:embed="rId2"/>
          <a:srcRect l="-1359" t="-4878" r="1359" b="25854"/>
          <a:stretch>
            <a:fillRect/>
          </a:stretch>
        </p:blipFill>
        <p:spPr>
          <a:xfrm>
            <a:off x="2990215" y="4331335"/>
            <a:ext cx="4744720" cy="2089150"/>
          </a:xfrm>
          <a:prstGeom prst="rect">
            <a:avLst/>
          </a:prstGeom>
        </p:spPr>
      </p:pic>
      <p:pic>
        <p:nvPicPr>
          <p:cNvPr id="11" name="图片 10" descr="2025-06-15 14:22:30.755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1959610"/>
            <a:ext cx="4790440" cy="2662555"/>
          </a:xfrm>
          <a:prstGeom prst="rect">
            <a:avLst/>
          </a:prstGeom>
        </p:spPr>
      </p:pic>
      <p:pic>
        <p:nvPicPr>
          <p:cNvPr id="12" name="图片 11" descr="2025-06-15 14:23:08.5490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720" y="1959610"/>
            <a:ext cx="4791075" cy="2662555"/>
          </a:xfrm>
          <a:prstGeom prst="rect">
            <a:avLst/>
          </a:prstGeom>
          <a:ln>
            <a:noFill/>
          </a:ln>
        </p:spPr>
      </p:pic>
      <p:pic>
        <p:nvPicPr>
          <p:cNvPr id="6" name="图片 5" descr="2025-06-15 17:32:20.899000"/>
          <p:cNvPicPr>
            <a:picLocks noChangeAspect="1"/>
          </p:cNvPicPr>
          <p:nvPr/>
        </p:nvPicPr>
        <p:blipFill>
          <a:blip r:embed="rId5"/>
          <a:srcRect l="-136" r="136" b="25366"/>
          <a:stretch>
            <a:fillRect/>
          </a:stretch>
        </p:blipFill>
        <p:spPr>
          <a:xfrm>
            <a:off x="3093720" y="-12700"/>
            <a:ext cx="4757420" cy="19723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/private/var/mobile/Containers/Data/Application/03C9FAA7-9C2B-464A-838A-67D2639F7CBA/tmp/insert_image_tmp_dir/2025-06-15 02:06:54.430000.png2025-06-15 02:06:54.4300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2435860" y="-112395"/>
            <a:ext cx="5183505" cy="28809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什么是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睡眠</a:t>
            </a: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？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What?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65" y="2404745"/>
            <a:ext cx="264477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“</a:t>
            </a: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一切有生之物，都少不了睡眠的调剂。</a:t>
            </a: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”</a:t>
            </a:r>
            <a:endParaRPr lang="en-US" altLang="zh-CN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——莎士比亚​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pic>
        <p:nvPicPr>
          <p:cNvPr id="15" name="图片 14" descr="2025-06-15 02:09:34.41800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39135" y="2564130"/>
            <a:ext cx="7322185" cy="4068445"/>
          </a:xfrm>
          <a:prstGeom prst="rect">
            <a:avLst/>
          </a:prstGeom>
        </p:spPr>
      </p:pic>
      <p:pic>
        <p:nvPicPr>
          <p:cNvPr id="16" name="图片 15" descr="2025-06-15 02:09:44.1450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00215" y="-93980"/>
            <a:ext cx="5177155" cy="287782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39065" y="622300"/>
            <a:ext cx="2799715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观看并思考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26945" y="2835275"/>
            <a:ext cx="7530465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zh-CN" altLang="en-US" sz="4800">
                <a:solidFill>
                  <a:srgbClr val="0070C0"/>
                </a:solidFill>
                <a:latin typeface="黑体" charset="-122"/>
                <a:ea typeface="黑体" charset="-122"/>
              </a:rPr>
              <a:t>睡觉的</a:t>
            </a:r>
            <a:r>
              <a:rPr lang="en-US" altLang="zh-CN" sz="4800">
                <a:solidFill>
                  <a:srgbClr val="0070C0"/>
                </a:solidFill>
                <a:latin typeface="黑体" charset="-122"/>
                <a:ea typeface="黑体" charset="-122"/>
              </a:rPr>
              <a:t>意义是什么</a:t>
            </a:r>
            <a:r>
              <a:rPr lang="zh-CN" altLang="en-US" sz="4800">
                <a:solidFill>
                  <a:srgbClr val="0070C0"/>
                </a:solidFill>
                <a:latin typeface="黑体" charset="-122"/>
                <a:ea typeface="黑体" charset="-122"/>
              </a:rPr>
              <a:t>？</a:t>
            </a:r>
            <a:endParaRPr lang="zh-CN" altLang="en-US" sz="4800">
              <a:solidFill>
                <a:srgbClr val="0070C0"/>
              </a:solidFill>
              <a:latin typeface="黑体" charset="-122"/>
              <a:ea typeface="黑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78530" y="622300"/>
            <a:ext cx="6126480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  <a:ea typeface="Calibri" charset="0"/>
                <a:hlinkClick r:id="rId2"/>
              </a:rPr>
              <a:t>人类为什么要进化出这么长的睡眠时间？</a:t>
            </a:r>
            <a:endParaRPr lang="zh-CN" altLang="en-US" sz="2400">
              <a:latin typeface="Calibri" charset="0"/>
              <a:ea typeface="Calibri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为何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要睡</a:t>
            </a: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觉？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Why?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65" y="2564130"/>
            <a:ext cx="264477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研究显示，每晚睡眠少于6小时的人，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冠心病风险增加20%，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中风风险增加15%。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61690" y="261620"/>
            <a:ext cx="8253095" cy="2490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生理修复与健康</a:t>
            </a:r>
            <a:endParaRPr lang="zh-CN" altLang="en-US" sz="28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</a:rPr>
              <a:t>身体恢复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：睡眠期间，身体修复受损细胞、合成蛋白质、促进肌肉生长，同时释放生长激素，尤其对儿童青少年发育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非常关键</a:t>
            </a:r>
            <a:endParaRPr lang="en-US" altLang="zh-CN" sz="2000"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</a:rPr>
              <a:t>免疫强化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：睡眠不足会削弱免疫系统，增加感染风险；充足睡眠可提升抗病能力。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</a:rPr>
              <a:t>代谢调节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睡眠可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帮助稳定血糖、控制食欲激素（如瘦素和饥饿素），长期缺觉与肥胖、糖尿病风险相关。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1690" y="2752090"/>
            <a:ext cx="8338820" cy="2042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大脑功能与认知</a:t>
            </a:r>
            <a:endParaRPr lang="zh-CN" altLang="en-US" sz="28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记忆巩固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：睡眠是大脑整合和巩固记忆的关键阶段，尤其是深度睡眠（慢波睡眠）对学习能力至关重要。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脑部排毒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：睡眠中脑脊液会清除代谢废物（如β-淀粉样蛋白，与阿尔茨海默病相关）。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注意力与决策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：缺觉会导致反应迟钝、判断力下降，类似醉酒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状态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61690" y="5001260"/>
            <a:ext cx="8376920" cy="1432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情绪与心理健康</a:t>
            </a:r>
            <a:endParaRPr lang="zh-CN" altLang="en-US" sz="28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情绪调节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：睡眠不足易引发焦虑、抑郁或情绪波动，REM睡眠阶段（快速眼动期）对处理负面情绪尤为重要。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心理</a:t>
            </a:r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韧性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：良好睡眠能提升压力应对能力，降低精神疾病风险。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39065" y="622300"/>
            <a:ext cx="2799715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问题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3125" y="622300"/>
            <a:ext cx="6654165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>
                <a:solidFill>
                  <a:srgbClr val="0070C0"/>
                </a:solidFill>
                <a:latin typeface="黑体" charset="-122"/>
                <a:ea typeface="黑体" charset="-122"/>
              </a:rPr>
              <a:t>你认为</a:t>
            </a:r>
            <a:r>
              <a:rPr lang="en-US" altLang="zh-CN" sz="4000">
                <a:solidFill>
                  <a:srgbClr val="0070C0"/>
                </a:solidFill>
                <a:latin typeface="黑体" charset="-122"/>
                <a:ea typeface="黑体" charset="-122"/>
              </a:rPr>
              <a:t>你的睡眠质量如何</a:t>
            </a:r>
            <a:r>
              <a:rPr lang="zh-CN" altLang="en-US" sz="4000">
                <a:solidFill>
                  <a:srgbClr val="0070C0"/>
                </a:solidFill>
                <a:latin typeface="黑体" charset="-122"/>
                <a:ea typeface="黑体" charset="-122"/>
              </a:rPr>
              <a:t>？</a:t>
            </a:r>
            <a:endParaRPr lang="zh-CN" altLang="en-US" sz="4000">
              <a:solidFill>
                <a:srgbClr val="0070C0"/>
              </a:solidFill>
              <a:latin typeface="黑体" charset="-122"/>
              <a:ea typeface="黑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13125" y="1553845"/>
            <a:ext cx="7891145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微软雅黑" charset="-122"/>
                <a:ea typeface="微软雅黑" charset="-122"/>
                <a:cs typeface="微软雅黑" charset="-122"/>
              </a:rPr>
              <a:t>睡眠时长？睡眠质量？有无失眠/多梦…？</a:t>
            </a:r>
            <a:endParaRPr lang="zh-CN" altLang="en-US" sz="3200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Statistics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9285" y="2404745"/>
            <a:ext cx="228282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我国中学生</a:t>
            </a: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睡眠普遍不足</a:t>
            </a: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。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7895" y="210820"/>
            <a:ext cx="4861560" cy="801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-122"/>
                <a:ea typeface="微软雅黑" charset="-122"/>
              </a:rPr>
              <a:t>我国</a:t>
            </a:r>
            <a:r>
              <a:rPr lang="en-US" altLang="zh-CN" sz="2400">
                <a:latin typeface="微软雅黑" charset="-122"/>
                <a:ea typeface="微软雅黑" charset="-122"/>
              </a:rPr>
              <a:t>其他地方的调查</a:t>
            </a:r>
            <a:r>
              <a:rPr lang="zh-CN" altLang="en-US" sz="2400">
                <a:latin typeface="微软雅黑" charset="-122"/>
                <a:ea typeface="微软雅黑" charset="-122"/>
              </a:rPr>
              <a:t>：</a:t>
            </a:r>
            <a:endParaRPr lang="zh-CN" altLang="en-US" sz="2400">
              <a:latin typeface="微软雅黑" charset="-122"/>
              <a:ea typeface="微软雅黑" charset="-122"/>
            </a:endParaRPr>
          </a:p>
        </p:txBody>
      </p:sp>
      <p:pic>
        <p:nvPicPr>
          <p:cNvPr id="5" name="图片 4" descr="2025-06-15 14:27:00.1790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32"/>
          <a:stretch>
            <a:fillRect/>
          </a:stretch>
        </p:blipFill>
        <p:spPr>
          <a:xfrm>
            <a:off x="8385175" y="669925"/>
            <a:ext cx="3616960" cy="2463165"/>
          </a:xfrm>
          <a:prstGeom prst="rect">
            <a:avLst/>
          </a:prstGeom>
        </p:spPr>
      </p:pic>
      <p:pic>
        <p:nvPicPr>
          <p:cNvPr id="6" name="图片 5" descr="2025-06-15 14:27:00.19900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015" t="4188" r="124" b="524"/>
          <a:stretch>
            <a:fillRect/>
          </a:stretch>
        </p:blipFill>
        <p:spPr>
          <a:xfrm>
            <a:off x="3480435" y="798830"/>
            <a:ext cx="4628515" cy="2346960"/>
          </a:xfrm>
          <a:prstGeom prst="rect">
            <a:avLst/>
          </a:prstGeom>
        </p:spPr>
      </p:pic>
      <p:pic>
        <p:nvPicPr>
          <p:cNvPr id="8" name="图片 7" descr="2025-06-15 14:27:00.2340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77895" y="3562350"/>
            <a:ext cx="4794885" cy="324167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145145" y="3562350"/>
            <a:ext cx="3856990" cy="292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中小学生睡眠时长整体不足：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高中生平均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睡</a:t>
            </a:r>
            <a:r>
              <a:rPr lang="en-US" altLang="zh-CN" sz="3200" b="1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6.5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小时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初中生</a:t>
            </a:r>
            <a:r>
              <a:rPr lang="en-US" altLang="zh-CN" sz="3200" b="1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7.48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小时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小学生为</a:t>
            </a:r>
            <a:r>
              <a:rPr lang="en-US" altLang="zh-CN" sz="3200" b="1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7.65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小时</a:t>
            </a:r>
            <a:endParaRPr lang="zh-CN" altLang="en-US" sz="2400">
              <a:latin typeface="Calibri" charset="0"/>
              <a:ea typeface="Calibri" charset="0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36" dur="1000" fill="hold"/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41" dur="1000" fill="hold"/>
                                              <p:tgtEl>
                                                <p:spTgt spid="2">
                                                  <p:txEl>
                                                    <p:pRg st="0" end="0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46" dur="1000" fill="hold"/>
                                              <p:tgtEl>
                                                <p:spTgt spid="2">
                                                  <p:txEl>
                                                    <p:pRg st="1" end="1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51" dur="1000" fill="hold"/>
                                              <p:tgtEl>
                                                <p:spTgt spid="2">
                                                  <p:txEl>
                                                    <p:pRg st="2" end="2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Data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9285" y="2404745"/>
            <a:ext cx="228282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我们至今</a:t>
            </a: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仍未知24小时是怎么睡的</a:t>
            </a: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。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12200" y="1012190"/>
            <a:ext cx="3032760" cy="419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睡觉</a:t>
            </a:r>
            <a:r>
              <a:rPr lang="en-US" altLang="zh-CN" sz="28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时长</a:t>
            </a:r>
            <a:endParaRPr lang="en-US" altLang="zh-CN" sz="28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≤6h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6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6~7h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15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≥7h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16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24h?!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睡眠质量</a:t>
            </a:r>
            <a:endParaRPr lang="en-US" sz="2800" b="1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差：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18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人</a:t>
            </a:r>
            <a:endParaRPr lang="zh-CN" altLang="en-US" sz="2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良：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14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好：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6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人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7895" y="210820"/>
            <a:ext cx="4861560" cy="801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-122"/>
                <a:ea typeface="微软雅黑" charset="-122"/>
              </a:rPr>
              <a:t>根据</a:t>
            </a:r>
            <a:r>
              <a:rPr lang="en-US" altLang="zh-CN" sz="2400">
                <a:latin typeface="微软雅黑" charset="-122"/>
                <a:ea typeface="微软雅黑" charset="-122"/>
              </a:rPr>
              <a:t>周</a:t>
            </a:r>
            <a:r>
              <a:rPr lang="zh-CN" altLang="en-US" sz="2400">
                <a:latin typeface="微软雅黑" charset="-122"/>
                <a:ea typeface="微软雅黑" charset="-122"/>
              </a:rPr>
              <a:t>六</a:t>
            </a:r>
            <a:r>
              <a:rPr lang="en-US" altLang="zh-CN" sz="2400">
                <a:latin typeface="微软雅黑" charset="-122"/>
                <a:ea typeface="微软雅黑" charset="-122"/>
              </a:rPr>
              <a:t>的调查</a:t>
            </a:r>
            <a:r>
              <a:rPr lang="zh-CN" altLang="en-US" sz="2400">
                <a:latin typeface="微软雅黑" charset="-122"/>
                <a:ea typeface="微软雅黑" charset="-122"/>
              </a:rPr>
              <a:t>：</a:t>
            </a:r>
            <a:endParaRPr lang="zh-CN" altLang="en-US" sz="2400">
              <a:latin typeface="微软雅黑" charset="-122"/>
              <a:ea typeface="微软雅黑" charset="-122"/>
            </a:endParaRPr>
          </a:p>
        </p:txBody>
      </p:sp>
      <p:pic>
        <p:nvPicPr>
          <p:cNvPr id="2" name="图片 1" descr="2025-06-15 12:57:23.303000"/>
          <p:cNvPicPr>
            <a:picLocks noChangeAspect="1"/>
          </p:cNvPicPr>
          <p:nvPr/>
        </p:nvPicPr>
        <p:blipFill>
          <a:blip r:embed="rId1"/>
          <a:srcRect t="7403" r="19200"/>
          <a:stretch>
            <a:fillRect/>
          </a:stretch>
        </p:blipFill>
        <p:spPr>
          <a:xfrm>
            <a:off x="3304540" y="647065"/>
            <a:ext cx="5208270" cy="5563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220980" y="622300"/>
            <a:ext cx="323786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我们注意到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…</a:t>
            </a:r>
            <a:endParaRPr lang="en-US" altLang="zh-CN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5365" y="1783080"/>
            <a:ext cx="4707255" cy="4423410"/>
          </a:xfrm>
          <a:prstGeom prst="rect">
            <a:avLst/>
          </a:prstGeom>
          <a:noFill/>
          <a:ln w="38100" cmpd="sng">
            <a:solidFill>
              <a:srgbClr val="0070C0"/>
            </a:solidFill>
            <a:prstDash val="solid"/>
          </a:ln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「</a:t>
            </a:r>
            <a:r>
              <a:rPr lang="en-US" altLang="zh-CN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睡美人</a:t>
            </a:r>
            <a:r>
              <a:rPr lang="zh-CN" altLang="en-US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」</a:t>
            </a:r>
            <a:r>
              <a:rPr lang="zh-CN" altLang="en-US" sz="3200">
                <a:solidFill>
                  <a:srgbClr val="0070C0"/>
                </a:solidFill>
                <a:latin typeface="微软雅黑" charset="-122"/>
                <a:ea typeface="微软雅黑" charset="-122"/>
              </a:rPr>
              <a:t>黄羿铭</a:t>
            </a:r>
            <a:endParaRPr lang="zh-CN" altLang="en-US" sz="32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     </a:t>
            </a:r>
            <a:endParaRPr lang="en-US" sz="240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尽管晚上睡的不多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，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但白天依旧精神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。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41390" y="1783080"/>
            <a:ext cx="4707255" cy="4423410"/>
          </a:xfrm>
          <a:prstGeom prst="rect">
            <a:avLst/>
          </a:prstGeom>
          <a:noFill/>
          <a:ln w="38100" cmpd="sng">
            <a:solidFill>
              <a:srgbClr val="0070C0"/>
            </a:solidFill>
            <a:prstDash val="solid"/>
          </a:ln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「</a:t>
            </a:r>
            <a:r>
              <a:rPr lang="en-US" altLang="zh-CN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特困生</a:t>
            </a:r>
            <a:r>
              <a:rPr lang="zh-CN" altLang="en-US" sz="40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」</a:t>
            </a:r>
            <a:r>
              <a:rPr lang="en-US" altLang="zh-CN" sz="3200">
                <a:solidFill>
                  <a:srgbClr val="0070C0"/>
                </a:solidFill>
                <a:latin typeface="微软雅黑" charset="-122"/>
                <a:ea typeface="微软雅黑" charset="-122"/>
              </a:rPr>
              <a:t>苏</a:t>
            </a:r>
            <a:r>
              <a:rPr lang="zh-CN" altLang="en-US" sz="3200">
                <a:solidFill>
                  <a:srgbClr val="0070C0"/>
                </a:solidFill>
                <a:latin typeface="微软雅黑" charset="-122"/>
                <a:ea typeface="微软雅黑" charset="-122"/>
              </a:rPr>
              <a:t>凤苗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 </a:t>
            </a:r>
            <a:endParaRPr lang="en-US" sz="240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真的很困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。</a:t>
            </a:r>
            <a:endParaRPr lang="zh-CN" altLang="en-US" sz="240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86350" y="302260"/>
            <a:ext cx="201930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颁奖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  <p:sndAc>
          <p:stSnd>
            <p:snd r:embed="rId3" name="chimes.wav"/>
          </p:stSnd>
        </p:sndAc>
      </p:transition>
    </mc:Choice>
    <mc:Fallback>
      <p:transition spd="med">
        <p:pull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问题的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原因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Causes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815" y="2564130"/>
            <a:ext cx="2386330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“城市永不入眠，于是它的居民也学会了失眠。”</a:t>
            </a:r>
            <a:endParaRPr lang="en-US" altLang="zh-CN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—— 简·雅各布斯《美国大城市的死与生》 </a:t>
            </a:r>
            <a:endParaRPr lang="en-US" altLang="zh-CN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pic>
        <p:nvPicPr>
          <p:cNvPr id="2" name="图片 1" descr="/private/var/mobile/Containers/Data/Application/03C9FAA7-9C2B-464A-838A-67D2639F7CBA/tmp/insert_image_tmp_dir/2025-06-15 09:02:42.061000.png2025-06-15 09:02:42.06100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167380" y="269240"/>
            <a:ext cx="9172575" cy="2294890"/>
          </a:xfrm>
          <a:prstGeom prst="rect">
            <a:avLst/>
          </a:prstGeom>
        </p:spPr>
      </p:pic>
      <p:pic>
        <p:nvPicPr>
          <p:cNvPr id="3" name="图片 2" descr="2025-06-15 09:10:00.082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380" y="2276475"/>
            <a:ext cx="9214485" cy="2305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9820" y="2731770"/>
            <a:ext cx="5687060" cy="11639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若</a:t>
            </a:r>
            <a:r>
              <a:rPr lang="en-US" altLang="zh-CN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本来</a:t>
            </a:r>
            <a:r>
              <a:rPr lang="zh-CN" altLang="en-US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就</a:t>
            </a:r>
            <a:r>
              <a:rPr lang="en-US" altLang="zh-CN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受到这三个因素影响</a:t>
            </a:r>
            <a:endParaRPr lang="en-US" altLang="zh-CN" sz="32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还</a:t>
            </a:r>
            <a:r>
              <a:rPr lang="en-US" altLang="zh-CN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熬夜</a:t>
            </a:r>
            <a:r>
              <a:rPr lang="en-US" altLang="zh-CN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不睡觉</a:t>
            </a:r>
            <a:r>
              <a:rPr lang="zh-CN" altLang="en-US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en-US" altLang="zh-CN" sz="32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问题就更大了</a:t>
            </a:r>
            <a:endParaRPr lang="en-US" altLang="zh-CN" sz="32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5" name="图片 4" descr="2025-06-15 11:36:31.395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80" y="4443095"/>
            <a:ext cx="9177020" cy="22955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220980" y="622300"/>
            <a:ext cx="323786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问题讨论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3125" y="622300"/>
            <a:ext cx="6654165" cy="122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>
                <a:solidFill>
                  <a:srgbClr val="0070C0"/>
                </a:solidFill>
                <a:latin typeface="黑体" charset="-122"/>
                <a:ea typeface="黑体" charset="-122"/>
              </a:rPr>
              <a:t>作业 </a:t>
            </a:r>
            <a:r>
              <a:rPr lang="en-US" altLang="zh-CN" sz="4000">
                <a:solidFill>
                  <a:srgbClr val="0070C0"/>
                </a:solidFill>
                <a:latin typeface="黑体" charset="-122"/>
                <a:ea typeface="黑体" charset="-122"/>
              </a:rPr>
              <a:t>VS 睡觉</a:t>
            </a:r>
            <a:endParaRPr lang="en-US" altLang="zh-CN" sz="4000">
              <a:solidFill>
                <a:srgbClr val="0070C0"/>
              </a:solidFill>
              <a:latin typeface="黑体" charset="-122"/>
              <a:ea typeface="黑体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800">
                <a:solidFill>
                  <a:srgbClr val="0070C0"/>
                </a:solidFill>
                <a:latin typeface="黑体" charset="-122"/>
                <a:ea typeface="黑体" charset="-122"/>
              </a:rPr>
              <a:t>你认为哪个更重要</a:t>
            </a:r>
            <a:r>
              <a:rPr lang="zh-CN" altLang="en-US" sz="2800">
                <a:solidFill>
                  <a:srgbClr val="0070C0"/>
                </a:solidFill>
                <a:latin typeface="黑体" charset="-122"/>
                <a:ea typeface="黑体" charset="-122"/>
              </a:rPr>
              <a:t>？</a:t>
            </a:r>
            <a:endParaRPr lang="zh-CN" altLang="en-US" sz="2800">
              <a:solidFill>
                <a:srgbClr val="0070C0"/>
              </a:solidFill>
              <a:latin typeface="黑体" charset="-122"/>
              <a:ea typeface="黑体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3125" y="2066925"/>
            <a:ext cx="7684135" cy="316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场景</a:t>
            </a:r>
            <a:endParaRPr lang="zh-CN" altLang="en-US" sz="28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张三同学今天晚自修的时候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被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几道物理题弄的头昏脑胀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，到他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终于攻破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了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这几道难题时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下课铃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声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就好似通关音乐一样响了起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来。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张三同学一时间不知所措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回到宿舍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后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攻破化学题又花费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了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大量的时间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，而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语数英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还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一字未动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呢！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于是张三同学选择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冲凉房</a:t>
            </a:r>
            <a:r>
              <a:rPr lang="zh-CN" altLang="en-US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里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挑灯夜读…</a:t>
            </a:r>
            <a:endParaRPr lang="en-US" altLang="zh-CN" sz="2400" b="1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220980" y="622300"/>
            <a:ext cx="323786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大师分享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3125" y="622300"/>
            <a:ext cx="6654165" cy="122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>
                <a:solidFill>
                  <a:srgbClr val="0070C0"/>
                </a:solidFill>
                <a:latin typeface="黑体" charset="-122"/>
                <a:ea typeface="黑体" charset="-122"/>
              </a:rPr>
              <a:t>邀请</a:t>
            </a:r>
            <a:r>
              <a:rPr lang="en-US" altLang="zh-CN" sz="4000">
                <a:solidFill>
                  <a:srgbClr val="0070C0"/>
                </a:solidFill>
                <a:latin typeface="黑体" charset="-122"/>
                <a:ea typeface="黑体" charset="-122"/>
              </a:rPr>
              <a:t>睡眠大师分享习惯</a:t>
            </a:r>
            <a:endParaRPr lang="en-US" altLang="zh-CN" sz="4000">
              <a:solidFill>
                <a:srgbClr val="0070C0"/>
              </a:solidFill>
              <a:latin typeface="黑体" charset="-122"/>
              <a:ea typeface="黑体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8400" y="2508885"/>
            <a:ext cx="3921125" cy="793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微软雅黑" charset="-122"/>
                <a:ea typeface="微软雅黑" charset="-122"/>
                <a:cs typeface="微软雅黑" charset="-122"/>
                <a:hlinkClick r:id="rId2"/>
              </a:rPr>
              <a:t>快速入眠法#1</a:t>
            </a:r>
            <a:endParaRPr lang="zh-CN" altLang="en-US" sz="3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文本框 3">
            <a:hlinkClick r:id="rId3" action="ppaction://hlinkfile"/>
          </p:cNvPr>
          <p:cNvSpPr txBox="1"/>
          <p:nvPr/>
        </p:nvSpPr>
        <p:spPr>
          <a:xfrm>
            <a:off x="5623560" y="403098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微软雅黑" charset="-122"/>
                <a:ea typeface="微软雅黑" charset="-122"/>
                <a:hlinkClick r:id="rId3"/>
              </a:rPr>
              <a:t>快速入眠法#2</a:t>
            </a:r>
            <a:endParaRPr lang="zh-CN" altLang="en-US" sz="3200">
              <a:latin typeface="微软雅黑" charset="-122"/>
              <a:ea typeface="微软雅黑" charset="-122"/>
              <a:hlinkClick r:id="rId3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280" y="802640"/>
            <a:ext cx="2593340" cy="1435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解决方案之</a:t>
            </a:r>
            <a:endParaRPr lang="zh-CN" altLang="en-US" sz="200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吃</a:t>
            </a: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得好又对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Eat Properly!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580" y="2564130"/>
            <a:ext cx="248856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“咖啡是睡眠的敌人，却是清醒时的盟友。”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—— 巴尔扎克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0255" y="146685"/>
            <a:ext cx="8431530" cy="163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睡前吃</a:t>
            </a: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富含色氨酸的食物</a:t>
            </a:r>
            <a:endParaRPr lang="en-US" altLang="zh-CN" sz="24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色氨酸是合成褪黑素（睡眠激素）和血清素（调节情绪和睡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眠）的前体  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食物</a:t>
            </a: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：牛奶、酸奶、鸡蛋、鸡肉、坚果（如杏仁、核桃）、香蕉、豆类。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最佳时间</a:t>
            </a: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：晚餐或睡前1~2小时少量摄入（如一杯温牛奶）。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0255" y="1784350"/>
            <a:ext cx="8454390" cy="1676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摄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入</a:t>
            </a: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镁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和钙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algn="l"/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镁舒缓神经、减轻焦虑；钙帮助大脑利用色氨酸  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食物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 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</a:t>
            </a:r>
            <a:endParaRPr lang="zh-CN" altLang="en-US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镁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：深绿叶菜（菠菜）、南瓜籽、黑巧克力（85%以上可可）。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钙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：乳制品、豆腐、芝麻。  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22955" y="3715385"/>
            <a:ext cx="8351520" cy="1371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睡前避免摄入咖啡因</a:t>
            </a:r>
            <a:endParaRPr lang="en-US" altLang="zh-CN" sz="24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咖啡因阻断腺苷（促睡眠物质）受体，延迟入睡时间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隐藏来源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：咖啡、茶、巧克力、可乐、部分止痛药。  </a:t>
            </a:r>
            <a:endParaRPr lang="en-US" altLang="zh-CN" sz="2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建议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：敏感人群午后避免摄入（半衰期约5~6小时）。  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10255" y="5340985"/>
            <a:ext cx="8364220" cy="1066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草本助眠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    </a:t>
            </a:r>
            <a:endParaRPr lang="en-US" altLang="zh-CN" sz="2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洋甘菊茶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：含芹菜素，与大脑GABA受体结合，缓解焦虑。  </a:t>
            </a:r>
            <a:endParaRPr lang="en-US" altLang="zh-CN" sz="2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酸樱桃汁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：天然褪黑素来源，可改善睡眠时长和质量。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3" grpId="1"/>
      <p:bldP spid="2" grpId="0"/>
      <p:bldP spid="2" grpId="1"/>
      <p:bldP spid="5" grpId="0"/>
      <p:bldP spid="5" grpId="1"/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280" y="802640"/>
            <a:ext cx="2593340" cy="1435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解决方案之</a:t>
            </a:r>
            <a:endParaRPr lang="zh-CN" altLang="en-US" sz="200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运动</a:t>
            </a: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后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更好</a:t>
            </a:r>
            <a:endParaRPr lang="en-US" altLang="zh-CN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Exercise!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580" y="2564130"/>
            <a:ext cx="2617470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“</a:t>
            </a: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疲劳是枕头的盟友。”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—— 达·芬奇  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0255" y="146685"/>
            <a:ext cx="8431530" cy="1508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有氧运动</a:t>
            </a:r>
            <a:r>
              <a:rPr lang="zh-CN" altLang="en-US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丨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改善睡眠连续性</a:t>
            </a:r>
            <a:endParaRPr lang="zh-CN" altLang="en-US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推荐项目</a:t>
            </a: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：快走、慢跑、游泳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作用</a:t>
            </a: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：提升体温后自然下降的过程促进睡意，增加深度睡眠时长。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美国睡眠基金会指出，每周3次30分钟有氧运动可使入睡时间缩短50%。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0255" y="1897380"/>
            <a:ext cx="8467090" cy="1066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力量训练</a:t>
            </a:r>
            <a:r>
              <a:rPr lang="zh-CN" altLang="en-US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丨减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少半夜醒来次数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推荐项目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：自重训练（深蹲、俯卧撑）、小重量器械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 b="1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注意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：避免睡前3小时进行，以免神经兴奋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10255" y="3290570"/>
            <a:ext cx="8467090" cy="155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黄金运动时段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zh-CN" altLang="en-US">
                <a:sym typeface="+mn-ea"/>
              </a:rPr>
              <a:t>晨间（7:00-9:0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）：户外运动接触阳光，同步生物钟，刺激褪黑素夜间分泌 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傍晚（16:00-18:0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）：体温峰值期，运动后体温下降与夜间自然降温重叠，助眠效果显著。  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避免时段：睡前3小时内剧烈运动（可能因肾上腺素升高导致清醒）。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3" grpId="1"/>
      <p:bldP spid="2" grpId="0"/>
      <p:bldP spid="2" grpId="1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280" y="802640"/>
            <a:ext cx="2593340" cy="1435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解决方案之</a:t>
            </a:r>
            <a:endParaRPr lang="zh-CN" altLang="en-US" sz="200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心情</a:t>
            </a: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需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放松</a:t>
            </a:r>
            <a:endParaRPr lang="en-US" altLang="zh-CN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Relax Yourself!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580" y="2564130"/>
            <a:ext cx="248856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“先睡心，后睡眼。”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—— 宋代养生家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 蔡季通《睡诀》  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0255" y="146685"/>
            <a:ext cx="8431530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4-7-8深呼吸法</a:t>
            </a: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吸气4秒 → 屏息7秒 → 缓慢呼气8秒（重复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5次）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激活副交感神经，降低心率，缓解紧张。  </a:t>
            </a: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000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0255" y="1497330"/>
            <a:ext cx="8467725" cy="1066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渐进式肌肉放松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法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从脚趾到头部，逐部位收紧肌肉5秒 → 彻底放松10秒。  </a:t>
            </a:r>
            <a:endParaRPr lang="en-US" altLang="zh-CN" sz="2000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释放躯体化压力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，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尤其适合长期肌肉紧张者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10255" y="2865755"/>
            <a:ext cx="8428990" cy="1066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接触自然</a:t>
            </a:r>
            <a:endParaRPr lang="en-US" altLang="zh-CN" sz="24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多一些</a:t>
            </a:r>
            <a:r>
              <a:rPr lang="zh-CN" altLang="en-US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在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校园里逛逛</a:t>
            </a:r>
            <a:r>
              <a:rPr lang="zh-CN" altLang="en-US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，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看看风景</a:t>
            </a:r>
            <a:r>
              <a:rPr lang="zh-CN" altLang="en-US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，</a:t>
            </a:r>
            <a:r>
              <a:rPr lang="en-US" altLang="zh-CN" sz="2000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放松身心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。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日本研究表明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，每天20分钟接触自然可降低皮质醇水平，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优化睡眠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。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10255" y="4180840"/>
            <a:ext cx="8441690" cy="1066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艺术表达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自由书写：不加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修饰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地随意写满一页纸，释放潜意识压力。  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  <a:p>
            <a:pPr algn="l"/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随意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涂鸦/填色，激活大脑默认模式网络（类似冥想效果）。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280" y="802640"/>
            <a:ext cx="2593340" cy="1435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charset="-122"/>
                <a:ea typeface="微软雅黑" charset="-122"/>
              </a:rPr>
              <a:t>解决方案之</a:t>
            </a:r>
            <a:endParaRPr lang="zh-CN" altLang="en-US" sz="200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中医的</a:t>
            </a:r>
            <a:r>
              <a:rPr lang="en-US" altLang="zh-CN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力量</a:t>
            </a:r>
            <a:endParaRPr lang="en-US" altLang="zh-CN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Tradition!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9745" y="3317240"/>
            <a:ext cx="248856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4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-</a:t>
            </a:r>
            <a:r>
              <a:rPr lang="zh-CN" altLang="en-US" sz="4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¥</a:t>
            </a:r>
            <a:r>
              <a:rPr lang="en-US" altLang="zh-CN" sz="4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300</a:t>
            </a:r>
            <a:endParaRPr lang="en-US" altLang="zh-CN" sz="4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pic>
        <p:nvPicPr>
          <p:cNvPr id="3" name="图片 2" descr="2025-06-15 03:25:03.166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9430" y="567055"/>
            <a:ext cx="4970780" cy="5723890"/>
          </a:xfrm>
          <a:prstGeom prst="rect">
            <a:avLst/>
          </a:prstGeom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</p:pic>
      <p:sp>
        <p:nvSpPr>
          <p:cNvPr id="4" name="文本框 3"/>
          <p:cNvSpPr txBox="1"/>
          <p:nvPr/>
        </p:nvSpPr>
        <p:spPr>
          <a:xfrm>
            <a:off x="3374390" y="567055"/>
            <a:ext cx="3108960" cy="5017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-122"/>
                <a:ea typeface="微软雅黑" charset="-122"/>
              </a:rPr>
              <a:t>中医</a:t>
            </a:r>
            <a:r>
              <a:rPr lang="en-US" altLang="zh-CN" sz="2400">
                <a:latin typeface="微软雅黑" charset="-122"/>
                <a:ea typeface="微软雅黑" charset="-122"/>
              </a:rPr>
              <a:t>有着悠久</a:t>
            </a:r>
            <a:r>
              <a:rPr lang="zh-CN" altLang="en-US" sz="2400">
                <a:latin typeface="微软雅黑" charset="-122"/>
                <a:ea typeface="微软雅黑" charset="-122"/>
              </a:rPr>
              <a:t>的</a:t>
            </a:r>
            <a:r>
              <a:rPr lang="en-US" altLang="zh-CN" sz="2400">
                <a:latin typeface="微软雅黑" charset="-122"/>
                <a:ea typeface="微软雅黑" charset="-122"/>
              </a:rPr>
              <a:t>历史</a:t>
            </a:r>
            <a:r>
              <a:rPr lang="zh-CN" altLang="en-US" sz="2400">
                <a:latin typeface="微软雅黑" charset="-122"/>
                <a:ea typeface="微软雅黑" charset="-122"/>
              </a:rPr>
              <a:t>，</a:t>
            </a:r>
            <a:endParaRPr lang="zh-CN" altLang="en-US" sz="2400"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-122"/>
                <a:ea typeface="微软雅黑" charset="-122"/>
              </a:rPr>
              <a:t>我们不妨看看中医怎么说</a:t>
            </a:r>
            <a:endParaRPr lang="en-US" altLang="zh-CN" sz="2400">
              <a:latin typeface="微软雅黑" charset="-122"/>
              <a:ea typeface="微软雅黑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39065" y="622300"/>
            <a:ext cx="279971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活动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3125" y="622300"/>
            <a:ext cx="6654165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4000">
                <a:solidFill>
                  <a:srgbClr val="0070C0"/>
                </a:solidFill>
                <a:latin typeface="黑体" charset="-122"/>
                <a:ea typeface="黑体" charset="-122"/>
              </a:rPr>
              <a:t>现在就开始</a:t>
            </a:r>
            <a:r>
              <a:rPr lang="en-US" altLang="zh-CN" sz="4000">
                <a:solidFill>
                  <a:srgbClr val="0070C0"/>
                </a:solidFill>
                <a:latin typeface="黑体" charset="-122"/>
                <a:ea typeface="黑体" charset="-122"/>
              </a:rPr>
              <a:t>行动</a:t>
            </a:r>
            <a:endParaRPr lang="en-US" altLang="zh-CN" sz="4000">
              <a:solidFill>
                <a:srgbClr val="0070C0"/>
              </a:solidFill>
              <a:latin typeface="黑体" charset="-122"/>
              <a:ea typeface="黑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13125" y="1553845"/>
            <a:ext cx="601027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charset="-122"/>
                <a:ea typeface="微软雅黑" charset="-122"/>
                <a:cs typeface="微软雅黑" charset="-122"/>
              </a:rPr>
              <a:t>发放</a:t>
            </a:r>
            <a:r>
              <a:rPr lang="en-US" altLang="zh-CN" sz="3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charset="-122"/>
                <a:ea typeface="微软雅黑" charset="-122"/>
                <a:cs typeface="微软雅黑" charset="-122"/>
              </a:rPr>
              <a:t>小卡片</a:t>
            </a:r>
            <a:endParaRPr lang="en-US" altLang="zh-CN" sz="3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17800" y="3093085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Calibri" charset="0"/>
                <a:ea typeface="宋体" charset="-122"/>
              </a:rPr>
              <a:t>在</a:t>
            </a:r>
            <a:r>
              <a:rPr lang="en-US" altLang="zh-CN" sz="3200">
                <a:latin typeface="Calibri" charset="0"/>
                <a:ea typeface="宋体" charset="-122"/>
              </a:rPr>
              <a:t>卡片上写下本周你要改掉</a:t>
            </a:r>
            <a:r>
              <a:rPr lang="zh-CN" altLang="en-US" sz="3200">
                <a:latin typeface="Calibri" charset="0"/>
                <a:ea typeface="宋体" charset="-122"/>
              </a:rPr>
              <a:t>的</a:t>
            </a:r>
            <a:r>
              <a:rPr lang="en-US" altLang="zh-CN" sz="3200">
                <a:latin typeface="Calibri" charset="0"/>
                <a:ea typeface="宋体" charset="-122"/>
              </a:rPr>
              <a:t>一个睡眠坏习惯或者</a:t>
            </a:r>
            <a:r>
              <a:rPr lang="zh-CN" altLang="en-US" sz="3200">
                <a:latin typeface="Calibri" charset="0"/>
                <a:ea typeface="宋体" charset="-122"/>
              </a:rPr>
              <a:t>要</a:t>
            </a:r>
            <a:r>
              <a:rPr lang="en-US" altLang="zh-CN" sz="3200">
                <a:latin typeface="Calibri" charset="0"/>
                <a:ea typeface="宋体" charset="-122"/>
              </a:rPr>
              <a:t>养成的好习惯</a:t>
            </a:r>
            <a:endParaRPr lang="en-US" altLang="zh-CN" sz="3200">
              <a:latin typeface="Calibri" charset="0"/>
              <a:ea typeface="宋体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5-06-15 02:52:25.5910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53" r="753" b="806"/>
          <a:stretch>
            <a:fillRect/>
          </a:stretch>
        </p:blipFill>
        <p:spPr>
          <a:xfrm>
            <a:off x="25400" y="0"/>
            <a:ext cx="12430125" cy="6993890"/>
          </a:xfrm>
          <a:prstGeom prst="rect">
            <a:avLst/>
          </a:prstGeom>
        </p:spPr>
      </p:pic>
      <p:pic>
        <p:nvPicPr>
          <p:cNvPr id="3" name="图片 2" descr="2025-06-15 02:52:32.02600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28035"/>
          <a:stretch>
            <a:fillRect/>
          </a:stretch>
        </p:blipFill>
        <p:spPr>
          <a:xfrm>
            <a:off x="915035" y="-979170"/>
            <a:ext cx="10365105" cy="4202430"/>
          </a:xfrm>
          <a:prstGeom prst="rect">
            <a:avLst/>
          </a:prstGeom>
        </p:spPr>
      </p:pic>
      <p:pic>
        <p:nvPicPr>
          <p:cNvPr id="5" name="图片 4" descr="2025-06-15 02:56:05.2420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155" y="5136515"/>
            <a:ext cx="3176270" cy="18573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665" y="1112520"/>
            <a:ext cx="29419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3600" b="1">
                <a:solidFill>
                  <a:schemeClr val="bg1"/>
                </a:solidFill>
                <a:latin typeface="微软雅黑" charset="-122"/>
                <a:ea typeface="微软雅黑" charset="-122"/>
              </a:rPr>
              <a:t>制作人员</a:t>
            </a:r>
            <a:endParaRPr lang="zh-CN" altLang="en-US" sz="3600" b="1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Arial" charset="0"/>
                <a:ea typeface="Arial" charset="0"/>
              </a:rPr>
              <a:t>Credits</a:t>
            </a:r>
            <a:endParaRPr lang="en-US" altLang="zh-CN" sz="240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6120" y="2404745"/>
            <a:ext cx="2205990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筹备一个班会</a:t>
            </a:r>
            <a:r>
              <a:rPr lang="en-US" altLang="zh-CN" sz="2000">
                <a:solidFill>
                  <a:schemeClr val="bg1"/>
                </a:solidFill>
                <a:latin typeface="仿宋" charset="-122"/>
                <a:ea typeface="仿宋" charset="-122"/>
                <a:cs typeface="仿宋" charset="-122"/>
              </a:rPr>
              <a:t>也是很辛苦的</a:t>
            </a:r>
            <a:endParaRPr lang="zh-CN" altLang="en-US" sz="2000">
              <a:solidFill>
                <a:schemeClr val="bg1"/>
              </a:solidFill>
              <a:latin typeface="仿宋" charset="-122"/>
              <a:ea typeface="仿宋" charset="-122"/>
              <a:cs typeface="仿宋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03295" y="730250"/>
            <a:ext cx="7943215" cy="4779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第二</a:t>
            </a:r>
            <a:r>
              <a:rPr lang="en-US" altLang="zh-CN" sz="36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学习小组</a:t>
            </a:r>
            <a:endParaRPr lang="zh-CN" altLang="en-US" sz="24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李民邦</a:t>
            </a:r>
            <a:r>
              <a:rPr lang="en-US" altLang="zh-CN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组长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</a:rPr>
              <a:t>PPT制作</a:t>
            </a:r>
            <a:r>
              <a:rPr lang="zh-CN" altLang="en-US" sz="2400">
                <a:latin typeface="微软雅黑" charset="-122"/>
                <a:ea typeface="微软雅黑" charset="-122"/>
              </a:rPr>
              <a:t>，</a:t>
            </a:r>
            <a:r>
              <a:rPr lang="en-US" altLang="zh-CN" sz="2400">
                <a:latin typeface="微软雅黑" charset="-122"/>
                <a:ea typeface="微软雅黑" charset="-122"/>
              </a:rPr>
              <a:t>统筹管理</a:t>
            </a:r>
            <a:endParaRPr lang="en-US" altLang="zh-CN" sz="2400"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龙　影</a:t>
            </a:r>
            <a:r>
              <a:rPr lang="en-US" altLang="zh-CN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组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员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视频搜集</a:t>
            </a:r>
            <a:endParaRPr lang="en-US" altLang="zh-CN" sz="240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李卓</a:t>
            </a: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燕</a:t>
            </a:r>
            <a:r>
              <a:rPr lang="en-US" altLang="zh-CN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组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员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数据调查</a:t>
            </a:r>
            <a:endParaRPr lang="en-US" altLang="zh-CN" sz="240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李浩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锋</a:t>
            </a:r>
            <a:r>
              <a:rPr lang="en-US" altLang="zh-CN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组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员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  <a:sym typeface="+mn-ea"/>
              </a:rPr>
              <a:t>PPT制作</a:t>
            </a:r>
            <a:r>
              <a:rPr lang="zh-CN" altLang="en-US" sz="2400">
                <a:latin typeface="微软雅黑" charset="-122"/>
                <a:ea typeface="微软雅黑" charset="-122"/>
                <a:sym typeface="+mn-ea"/>
              </a:rPr>
              <a:t>，</a:t>
            </a:r>
            <a:r>
              <a:rPr lang="en-US" altLang="zh-CN" sz="2400">
                <a:latin typeface="微软雅黑" charset="-122"/>
                <a:ea typeface="微软雅黑" charset="-122"/>
                <a:sym typeface="+mn-ea"/>
              </a:rPr>
              <a:t>视频搜集</a:t>
            </a:r>
            <a:endParaRPr lang="en-US" altLang="zh-CN" sz="2400"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李　淋</a:t>
            </a:r>
            <a:r>
              <a:rPr lang="en-US" altLang="zh-CN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组</a:t>
            </a:r>
            <a:r>
              <a:rPr lang="zh-CN" altLang="en-US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员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  <a:sym typeface="+mn-ea"/>
              </a:rPr>
              <a:t>PPT制作</a:t>
            </a:r>
            <a:endParaRPr lang="en-US" altLang="zh-CN" sz="2400" b="1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endParaRPr lang="en-US" altLang="zh-CN" sz="2400" b="1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特别鸣谢</a:t>
            </a:r>
            <a:endParaRPr lang="zh-CN" altLang="en-US" sz="4000" b="1">
              <a:solidFill>
                <a:srgbClr val="0070C0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昇华班</a:t>
            </a: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全体同学</a:t>
            </a: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solidFill>
                  <a:srgbClr val="121212"/>
                </a:solidFill>
                <a:latin typeface="微软雅黑" charset="-122"/>
                <a:ea typeface="微软雅黑" charset="-122"/>
                <a:sym typeface="+mn-ea"/>
              </a:rPr>
              <a:t>提供了丰富高质量的数据</a:t>
            </a:r>
            <a:endParaRPr lang="en-US" altLang="zh-CN" sz="2400">
              <a:solidFill>
                <a:srgbClr val="121212"/>
              </a:solidFill>
              <a:latin typeface="微软雅黑" charset="-122"/>
              <a:ea typeface="微软雅黑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李进强</a:t>
            </a:r>
            <a:r>
              <a:rPr lang="en-US" altLang="zh-CN" sz="2400" b="1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医生</a:t>
            </a:r>
            <a:r>
              <a:rPr lang="zh-CN" altLang="en-US" sz="240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400">
                <a:solidFill>
                  <a:srgbClr val="121212"/>
                </a:solidFill>
                <a:latin typeface="微软雅黑" charset="-122"/>
                <a:ea typeface="微软雅黑" charset="-122"/>
                <a:sym typeface="+mn-ea"/>
              </a:rPr>
              <a:t>医疗指导</a:t>
            </a:r>
            <a:endParaRPr lang="en-US" altLang="zh-CN" sz="2400">
              <a:solidFill>
                <a:srgbClr val="121212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400">
              <a:latin typeface="微软雅黑" charset="-122"/>
              <a:ea typeface="微软雅黑" charset="-122"/>
              <a:sym typeface="+mn-ea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400" b="1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pic>
        <p:nvPicPr>
          <p:cNvPr id="6" name="图片 5" descr="/private/var/mobile/Containers/Data/Application/03C9FAA7-9C2B-464A-838A-67D2639F7CBA/tmp/insert_image_tmp_dir/2025-06-15 17:33:36.523000.png2025-06-15 17:33:36.52300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39555" y="5508943"/>
            <a:ext cx="2854960" cy="973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3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3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3" grpId="1"/>
    </p:bldLst>
  </p:timing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3.xml><?xml version="1.0" encoding="utf-8"?>
<p:tagLst xmlns:p="http://schemas.openxmlformats.org/presentationml/2006/main">
  <p:tag name="KSO_WM_UNIT_CREATIVECROP_PICSHAPE_ID" val="13"/>
</p:tagLst>
</file>

<file path=ppt/tags/tag4.xml><?xml version="1.0" encoding="utf-8"?>
<p:tagLst xmlns:p="http://schemas.openxmlformats.org/presentationml/2006/main">
  <p:tag name="KSO_WM_UNIT_CREATIVECROP_PICSHAPE_ID" val="15"/>
</p:tagLst>
</file>

<file path=ppt/tags/tag5.xml><?xml version="1.0" encoding="utf-8"?>
<p:tagLst xmlns:p="http://schemas.openxmlformats.org/presentationml/2006/main">
  <p:tag name="KSO_WM_UNIT_CREATIVECROP_PICSHAPE_ID" val="16"/>
</p:tagLst>
</file>

<file path=ppt/tags/tag6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8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9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0.xml><?xml version="1.0" encoding="utf-8"?>
<p:tagLst xmlns:p="http://schemas.openxmlformats.org/presentationml/2006/main">
  <p:tag name="KSO_WM_UNIT_CREATIVECROP_PICSHAPE_ID" val="5"/>
</p:tagLst>
</file>

<file path=ppt/tags/tag11.xml><?xml version="1.0" encoding="utf-8"?>
<p:tagLst xmlns:p="http://schemas.openxmlformats.org/presentationml/2006/main">
  <p:tag name="KSO_WM_UNIT_CREATIVECROP_PICSHAPE_ID" val="6"/>
</p:tagLst>
</file>

<file path=ppt/tags/tag12.xml><?xml version="1.0" encoding="utf-8"?>
<p:tagLst xmlns:p="http://schemas.openxmlformats.org/presentationml/2006/main">
  <p:tag name="KSO_WM_UNIT_CREATIVECROP_PICSHAPE_ID" val="8"/>
</p:tagLst>
</file>

<file path=ppt/tags/tag13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49973394093_1_1"/>
  <p:tag name="KSO_WM_DIAGRAM_VIRTUALLY_FRAME" val="{&quot;height&quot;:230.6,&quot;left&quot;:641.35,&quot;top&quot;:280.5,&quot;width&quot;:303.7}"/>
</p:tagLst>
</file>

<file path=ppt/tags/tag1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5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6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8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9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0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1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2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3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5.xml><?xml version="1.0" encoding="utf-8"?>
<p:tagLst xmlns:p="http://schemas.openxmlformats.org/presentationml/2006/main">
  <p:tag name="KSO_WM_UNIT_CREATIVECROP_PICSHAPE_ID" val="2"/>
</p:tagLst>
</file>

<file path=ppt/tags/tag26.xml><?xml version="1.0" encoding="utf-8"?>
<p:tagLst xmlns:p="http://schemas.openxmlformats.org/presentationml/2006/main">
  <p:tag name="KSO_WM_UNIT_CREATIVECROP_PICSHAPE_ID" val="3"/>
</p:tagLst>
</file>

<file path=ppt/tags/tag2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8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226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仿宋</vt:lpstr>
      <vt:lpstr>黑体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Аng Κе </dc:creator>
  <cp:lastModifiedBy>iPad</cp:lastModifiedBy>
  <cp:revision>496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2052-12.6.0</vt:lpwstr>
  </property>
  <property fmtid="{D5CDD505-2E9C-101B-9397-08002B2CF9AE}" pid="3" name="ICV">
    <vt:lpwstr>D3163A79CA5295F145914E683F80D90A_31</vt:lpwstr>
  </property>
</Properties>
</file>