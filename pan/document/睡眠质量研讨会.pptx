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7"/>
  </p:handoutMasterIdLst>
  <p:sldIdLst>
    <p:sldId id="259" r:id="rId3"/>
    <p:sldId id="264" r:id="rId4"/>
    <p:sldId id="260" r:id="rId5"/>
    <p:sldId id="261" r:id="rId6"/>
    <p:sldId id="262" r:id="rId7"/>
    <p:sldId id="263" r:id="rId8"/>
    <p:sldId id="277" r:id="rId9"/>
    <p:sldId id="265" r:id="rId10"/>
    <p:sldId id="266" r:id="rId11"/>
    <p:sldId id="267" r:id="rId12"/>
    <p:sldId id="272" r:id="rId13"/>
    <p:sldId id="273" r:id="rId14"/>
    <p:sldId id="274" r:id="rId15"/>
    <p:sldId id="275" r:id="rId16"/>
  </p:sldIdLst>
  <p:sldSz cx="12192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22" autoAdjust="0"/>
    <p:restoredTop sz="94660"/>
  </p:normalViewPr>
  <p:slideViewPr>
    <p:cSldViewPr snapToGrid="0">
      <p:cViewPr varScale="1">
        <p:scale>
          <a:sx n="90" d="100"/>
          <a:sy n="90" d="100"/>
        </p:scale>
        <p:origin x="90" y="23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5" d="100"/>
          <a:sy n="75" d="100"/>
        </p:scale>
        <p:origin x="1452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/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/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84EC56-8E46-498C-9F82-A1E67B0017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/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/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6E617E-3889-48F8-A988-C1F6B731C0C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/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/>
          <p:nvPr>
            <p:ph type="dt" sz="half" idx="10"/>
          </p:nvPr>
        </p:nvSpPr>
        <p:spPr/>
        <p:txBody>
          <a:bodyPr/>
          <a:lstStyle/>
          <a:p>
            <a:fld id="{90106F6D-FB2C-4A93-B18F-24E90D5C3B6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/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/>
          <p:nvPr>
            <p:ph type="sldNum" sz="quarter" idx="12"/>
          </p:nvPr>
        </p:nvSpPr>
        <p:spPr/>
        <p:txBody>
          <a:bodyPr/>
          <a:lstStyle/>
          <a:p>
            <a:fld id="{20D686B1-6509-4CC6-A0C8-F609EF2537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/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/>
          <p:nvPr>
            <p:ph type="dt" sz="half" idx="10"/>
          </p:nvPr>
        </p:nvSpPr>
        <p:spPr/>
        <p:txBody>
          <a:bodyPr/>
          <a:lstStyle/>
          <a:p>
            <a:fld id="{90106F6D-FB2C-4A93-B18F-24E90D5C3B6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/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/>
          <p:nvPr>
            <p:ph type="sldNum" sz="quarter" idx="12"/>
          </p:nvPr>
        </p:nvSpPr>
        <p:spPr/>
        <p:txBody>
          <a:bodyPr/>
          <a:lstStyle/>
          <a:p>
            <a:fld id="{20D686B1-6509-4CC6-A0C8-F609EF2537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/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/>
          <p:nvPr>
            <p:ph type="dt" sz="half" idx="10"/>
          </p:nvPr>
        </p:nvSpPr>
        <p:spPr/>
        <p:txBody>
          <a:bodyPr/>
          <a:lstStyle/>
          <a:p>
            <a:fld id="{90106F6D-FB2C-4A93-B18F-24E90D5C3B6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/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/>
          <p:nvPr>
            <p:ph type="sldNum" sz="quarter" idx="12"/>
          </p:nvPr>
        </p:nvSpPr>
        <p:spPr/>
        <p:txBody>
          <a:bodyPr/>
          <a:lstStyle/>
          <a:p>
            <a:fld id="{20D686B1-6509-4CC6-A0C8-F609EF2537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/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/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/>
          <p:nvPr>
            <p:ph type="dt" sz="half" idx="10"/>
          </p:nvPr>
        </p:nvSpPr>
        <p:spPr/>
        <p:txBody>
          <a:bodyPr/>
          <a:lstStyle/>
          <a:p>
            <a:fld id="{90106F6D-FB2C-4A93-B18F-24E90D5C3B62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/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/>
          <p:nvPr>
            <p:ph type="sldNum" sz="quarter" idx="12"/>
          </p:nvPr>
        </p:nvSpPr>
        <p:spPr/>
        <p:txBody>
          <a:bodyPr/>
          <a:lstStyle/>
          <a:p>
            <a:fld id="{20D686B1-6509-4CC6-A0C8-F609EF2537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9788" y="365126"/>
            <a:ext cx="10515600" cy="970222"/>
          </a:xfrm>
        </p:spPr>
        <p:txBody>
          <a:bodyPr/>
          <a:lstStyle>
            <a:lvl1pPr algn="l"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/>
          <p:nvPr>
            <p:ph type="body" idx="1"/>
          </p:nvPr>
        </p:nvSpPr>
        <p:spPr>
          <a:xfrm>
            <a:off x="1259724" y="1567346"/>
            <a:ext cx="4701840" cy="71009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内容占位符 3"/>
          <p:cNvSpPr/>
          <p:nvPr>
            <p:ph sz="half" idx="2"/>
          </p:nvPr>
        </p:nvSpPr>
        <p:spPr>
          <a:xfrm>
            <a:off x="1259724" y="2338388"/>
            <a:ext cx="4701840" cy="3785964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/>
          <p:nvPr>
            <p:ph type="body" sz="quarter" idx="3"/>
          </p:nvPr>
        </p:nvSpPr>
        <p:spPr>
          <a:xfrm>
            <a:off x="6289616" y="1567346"/>
            <a:ext cx="4701841" cy="710095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>
              <a:buNone/>
              <a:defRPr lang="zh-CN" altLang="en-US" b="0" smtClean="0"/>
            </a:lvl1pPr>
          </a:lstStyle>
          <a:p>
            <a:pPr marL="0" lvl="0" indent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/>
          <p:nvPr>
            <p:ph sz="quarter" idx="4"/>
          </p:nvPr>
        </p:nvSpPr>
        <p:spPr>
          <a:xfrm>
            <a:off x="6289616" y="2357460"/>
            <a:ext cx="4701841" cy="376689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/>
          <p:nvPr>
            <p:ph type="dt" sz="half" idx="10"/>
          </p:nvPr>
        </p:nvSpPr>
        <p:spPr/>
        <p:txBody>
          <a:bodyPr/>
          <a:lstStyle/>
          <a:p>
            <a:fld id="{0D4851DC-CD24-4E20-AC43-84D4817493CE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/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/>
          <p:nvPr>
            <p:ph type="sldNum" sz="quarter" idx="12"/>
          </p:nvPr>
        </p:nvSpPr>
        <p:spPr/>
        <p:txBody>
          <a:bodyPr/>
          <a:lstStyle/>
          <a:p>
            <a:fld id="{75F1D1A5-9DB9-47CE-AB47-B90B00FE3C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/>
          <p:nvPr>
            <p:ph type="dt" sz="half" idx="10"/>
          </p:nvPr>
        </p:nvSpPr>
        <p:spPr/>
        <p:txBody>
          <a:bodyPr/>
          <a:lstStyle/>
          <a:p>
            <a:fld id="{90106F6D-FB2C-4A93-B18F-24E90D5C3B62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/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/>
          <p:nvPr>
            <p:ph type="sldNum" sz="quarter" idx="12"/>
          </p:nvPr>
        </p:nvSpPr>
        <p:spPr/>
        <p:txBody>
          <a:bodyPr/>
          <a:lstStyle/>
          <a:p>
            <a:fld id="{20D686B1-6509-4CC6-A0C8-F609EF2537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lstStyle/>
          <a:p>
            <a:fld id="{90106F6D-FB2C-4A93-B18F-24E90D5C3B62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/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/>
          <p:nvPr>
            <p:ph type="sldNum" sz="quarter" idx="12"/>
          </p:nvPr>
        </p:nvSpPr>
        <p:spPr/>
        <p:txBody>
          <a:bodyPr/>
          <a:lstStyle/>
          <a:p>
            <a:fld id="{20D686B1-6509-4CC6-A0C8-F609EF2537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/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/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/>
          <p:nvPr>
            <p:ph type="dt" sz="half" idx="10"/>
          </p:nvPr>
        </p:nvSpPr>
        <p:spPr/>
        <p:txBody>
          <a:bodyPr/>
          <a:lstStyle/>
          <a:p>
            <a:fld id="{EB018836-6699-441E-9BAB-C61FC75AFD51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/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/>
          <p:nvPr>
            <p:ph type="sldNum" sz="quarter" idx="12"/>
          </p:nvPr>
        </p:nvSpPr>
        <p:spPr/>
        <p:txBody>
          <a:bodyPr/>
          <a:lstStyle/>
          <a:p>
            <a:fld id="{3040BF0B-87F8-415C-BAC5-F65F41346B0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/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/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/>
          <p:nvPr>
            <p:ph type="dt" sz="half" idx="10"/>
          </p:nvPr>
        </p:nvSpPr>
        <p:spPr/>
        <p:txBody>
          <a:bodyPr/>
          <a:lstStyle/>
          <a:p>
            <a:fld id="{90106F6D-FB2C-4A93-B18F-24E90D5C3B6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/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/>
          <p:nvPr>
            <p:ph type="sldNum" sz="quarter" idx="12"/>
          </p:nvPr>
        </p:nvSpPr>
        <p:spPr/>
        <p:txBody>
          <a:bodyPr/>
          <a:lstStyle/>
          <a:p>
            <a:fld id="{20D686B1-6509-4CC6-A0C8-F609EF2537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0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/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106F6D-FB2C-4A93-B18F-24E90D5C3B6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/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/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D686B1-6509-4CC6-A0C8-F609EF2537B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3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4.xml"/><Relationship Id="rId2" Type="http://schemas.openxmlformats.org/officeDocument/2006/relationships/hyperlink" Target="https://b23.tv/RyuzpDD" TargetMode="Externa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5.xml"/><Relationship Id="rId2" Type="http://schemas.openxmlformats.org/officeDocument/2006/relationships/hyperlink" Target="https://b23.tv/BCY4UOs" TargetMode="Externa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8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2.xml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3.xml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4.xml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5.xml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7.xml"/><Relationship Id="rId1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8.xml"/><Relationship Id="rId2" Type="http://schemas.openxmlformats.org/officeDocument/2006/relationships/hyperlink" Target="https://b23.tv/UbEGtHv" TargetMode="External"/><Relationship Id="rId1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/>
          <p:nvPr>
            <p:ph type="ctrTitle"/>
            <p:custDataLst>
              <p:tags r:id="rId1"/>
            </p:custDataLst>
          </p:nvPr>
        </p:nvSpPr>
        <p:spPr>
          <a:xfrm>
            <a:off x="1999615" y="1108710"/>
            <a:ext cx="7095490" cy="996950"/>
          </a:xfrm>
        </p:spPr>
        <p:txBody>
          <a:bodyPr/>
          <a:lstStyle/>
          <a:p>
            <a:pPr algn="l" fontAlgn="auto"/>
            <a:r>
              <a:rPr lang="zh-CN" altLang="en-US" b="1" smtClean="0">
                <a:solidFill>
                  <a:schemeClr val="tx1"/>
                </a:solidFill>
                <a:latin typeface="微软雅黑" charset="0"/>
                <a:ea typeface="微软雅黑" charset="0"/>
              </a:rPr>
              <a:t>睡眠质量</a:t>
            </a:r>
            <a:r>
              <a:rPr lang="en-US" altLang="zh-CN" b="1" smtClean="0">
                <a:solidFill>
                  <a:schemeClr val="tx1"/>
                </a:solidFill>
                <a:latin typeface="微软雅黑" charset="0"/>
                <a:ea typeface="微软雅黑" charset="0"/>
              </a:rPr>
              <a:t>研讨会</a:t>
            </a:r>
            <a:endParaRPr lang="en-US" altLang="zh-CN" b="1" smtClean="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5" name="副标题 4"/>
          <p:cNvSpPr/>
          <p:nvPr>
            <p:ph type="subTitle" idx="1"/>
            <p:custDataLst>
              <p:tags r:id="rId2"/>
            </p:custDataLst>
          </p:nvPr>
        </p:nvSpPr>
        <p:spPr>
          <a:xfrm>
            <a:off x="1884045" y="1977708"/>
            <a:ext cx="9144000" cy="1655762"/>
          </a:xfrm>
        </p:spPr>
        <p:txBody>
          <a:bodyPr/>
          <a:lstStyle/>
          <a:p>
            <a:pPr algn="ctr" fontAlgn="auto"/>
            <a:r>
              <a:rPr lang="zh-CN" altLang="en-US" smtClean="0">
                <a:solidFill>
                  <a:schemeClr val="tx1"/>
                </a:solidFill>
              </a:rPr>
              <a:t>第二学习小组</a:t>
            </a:r>
            <a:endParaRPr lang="zh-CN" altLang="en-US" smtClean="0">
              <a:solidFill>
                <a:schemeClr val="tx1"/>
              </a:solidFill>
            </a:endParaRPr>
          </a:p>
        </p:txBody>
      </p:sp>
      <p:pic>
        <p:nvPicPr>
          <p:cNvPr id="7" name="图片 6" descr="2025-06-09 01:26:58.5430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365" y="1108710"/>
            <a:ext cx="995680" cy="995680"/>
          </a:xfrm>
          <a:prstGeom prst="rect">
            <a:avLst/>
          </a:prstGeom>
        </p:spPr>
      </p:pic>
      <p:pic>
        <p:nvPicPr>
          <p:cNvPr id="8" name="图片 7" descr="2025-06-09 01:27:44.05000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365" y="4349750"/>
            <a:ext cx="2740660" cy="219329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560570" y="5044440"/>
            <a:ext cx="6705600" cy="1188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2000">
                <a:latin typeface="仿宋" charset="0"/>
                <a:ea typeface="仿宋" charset="0"/>
                <a:cs typeface="仿宋" charset="0"/>
              </a:rPr>
              <a:t>“睡眠和休息丧失了时间，却取得了明天工作的精力。”</a:t>
            </a:r>
            <a:endParaRPr lang="zh-CN" altLang="en-US" sz="2000">
              <a:latin typeface="仿宋" charset="0"/>
              <a:ea typeface="仿宋" charset="0"/>
              <a:cs typeface="仿宋" charset="0"/>
            </a:endParaRPr>
          </a:p>
          <a:p>
            <a:pPr indent="0" algn="r">
              <a:lnSpc>
                <a:spcPct val="100000"/>
              </a:lnSpc>
              <a:buNone/>
            </a:pPr>
            <a:r>
              <a:rPr lang="zh-CN" altLang="en-US" sz="2000">
                <a:latin typeface="仿宋" charset="0"/>
                <a:ea typeface="仿宋" charset="0"/>
                <a:cs typeface="仿宋" charset="0"/>
              </a:rPr>
              <a:t> ——毛泽东</a:t>
            </a:r>
            <a:endParaRPr lang="zh-CN" altLang="en-US" sz="2000">
              <a:latin typeface="仿宋" charset="0"/>
              <a:ea typeface="仿宋" charset="0"/>
              <a:cs typeface="仿宋" charset="0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2214880" y="558165"/>
            <a:ext cx="7412990" cy="9315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3200" b="1">
                <a:solidFill>
                  <a:schemeClr val="bg1"/>
                </a:solidFill>
                <a:latin typeface="微软雅黑" charset="0"/>
                <a:ea typeface="微软雅黑" charset="0"/>
              </a:rPr>
              <a:t>睡眠</a:t>
            </a:r>
            <a:r>
              <a:rPr lang="en-US" altLang="zh-CN" sz="3200" b="1">
                <a:solidFill>
                  <a:schemeClr val="bg1"/>
                </a:solidFill>
                <a:latin typeface="微软雅黑" charset="0"/>
                <a:ea typeface="微软雅黑" charset="0"/>
              </a:rPr>
              <a:t>是什么</a:t>
            </a:r>
            <a:r>
              <a:rPr lang="zh-CN" altLang="en-US" sz="3200" b="1">
                <a:solidFill>
                  <a:schemeClr val="bg1"/>
                </a:solidFill>
                <a:latin typeface="微软雅黑" charset="0"/>
                <a:ea typeface="微软雅黑" charset="0"/>
              </a:rPr>
              <a:t>？</a:t>
            </a:r>
            <a:endParaRPr lang="zh-CN" altLang="en-US" sz="3200" b="1">
              <a:solidFill>
                <a:schemeClr val="bg1"/>
              </a:solidFill>
              <a:latin typeface="微软雅黑" charset="0"/>
              <a:ea typeface="微软雅黑" charset="0"/>
            </a:endParaRPr>
          </a:p>
        </p:txBody>
      </p:sp>
      <p:pic>
        <p:nvPicPr>
          <p:cNvPr id="6" name="图片 5" descr="2025-06-09 01:47:36.4570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845" y="179070"/>
            <a:ext cx="1689735" cy="16897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214880" y="1267460"/>
            <a:ext cx="9309100" cy="42291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睡眠（sleep），人一生中有三分之一的时间是在睡眠中度过，睡眠是生命的需要，人不能没有睡眠，睡眠质量对于人体健康起着至关重要的作用，而且每天缺少的睡眠还要补上，否则会受到惩罚，很像欠债一定要还一样。 </a:t>
            </a:r>
            <a:endParaRPr lang="zh-CN" altLang="en-US" sz="2000">
              <a:latin typeface="微软雅黑" charset="0"/>
              <a:ea typeface="微软雅黑" charset="0"/>
              <a:cs typeface="微软雅黑" charset="0"/>
            </a:endParaRPr>
          </a:p>
          <a:p>
            <a:pPr indent="0" algn="l">
              <a:lnSpc>
                <a:spcPct val="100000"/>
              </a:lnSpc>
              <a:buNone/>
            </a:pPr>
            <a:endParaRPr lang="zh-CN" altLang="en-US" sz="2000">
              <a:latin typeface="微软雅黑" charset="0"/>
              <a:ea typeface="微软雅黑" charset="0"/>
              <a:cs typeface="微软雅黑" charset="0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2021年4月2日，教育部召开新闻通气会，介绍《关于进一步加强中小学生睡眠管理工作的通知》。通知明确了学生睡眠时间要求，根据不同年龄段学生身心发展特点，小学生每天睡眠时间应达到10小时，初中生应达到9小时，高中生应达到8小时。</a:t>
            </a:r>
            <a:endParaRPr lang="zh-CN" altLang="en-US" sz="2000">
              <a:latin typeface="微软雅黑" charset="0"/>
              <a:ea typeface="微软雅黑" charset="0"/>
              <a:cs typeface="微软雅黑" charset="0"/>
            </a:endParaRPr>
          </a:p>
          <a:p>
            <a:pPr indent="0" algn="l">
              <a:lnSpc>
                <a:spcPct val="100000"/>
              </a:lnSpc>
              <a:buNone/>
            </a:pPr>
            <a:endParaRPr lang="zh-CN" altLang="en-US" sz="2000">
              <a:latin typeface="微软雅黑" charset="0"/>
              <a:ea typeface="微软雅黑" charset="0"/>
              <a:cs typeface="微软雅黑" charset="0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依据2022年6月全国科学技术名词审定委员会批准正式公布的《睡眠医学名词》，睡眠（sleep）定义为，一种自然的反复出现的生理状态。每日一定时间内各种有意识的主动行为消失，对外界环境刺激的反应减弱。</a:t>
            </a:r>
            <a:endParaRPr lang="zh-CN" altLang="en-US" sz="200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664075" y="5121275"/>
            <a:ext cx="6705600" cy="1188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r">
              <a:lnSpc>
                <a:spcPct val="100000"/>
              </a:lnSpc>
              <a:buNone/>
            </a:pPr>
            <a:r>
              <a:rPr lang="zh-CN" altLang="en-US" sz="2000">
                <a:latin typeface="仿宋" charset="0"/>
                <a:ea typeface="仿宋" charset="0"/>
                <a:cs typeface="仿宋" charset="0"/>
              </a:rPr>
              <a:t>“一切有生之物，都少不了睡眠的调剂。”</a:t>
            </a:r>
            <a:endParaRPr lang="zh-CN" altLang="en-US" sz="2000">
              <a:latin typeface="仿宋" charset="0"/>
              <a:ea typeface="仿宋" charset="0"/>
              <a:cs typeface="仿宋" charset="0"/>
            </a:endParaRPr>
          </a:p>
          <a:p>
            <a:pPr indent="0" algn="r">
              <a:lnSpc>
                <a:spcPct val="100000"/>
              </a:lnSpc>
              <a:buNone/>
            </a:pPr>
            <a:r>
              <a:rPr lang="zh-CN" altLang="en-US" sz="2000">
                <a:latin typeface="仿宋" charset="0"/>
                <a:ea typeface="仿宋" charset="0"/>
                <a:cs typeface="仿宋" charset="0"/>
              </a:rPr>
              <a:t> ——莎士比亚​</a:t>
            </a:r>
            <a:endParaRPr lang="zh-CN" altLang="en-US" sz="2000">
              <a:latin typeface="仿宋" charset="0"/>
              <a:ea typeface="仿宋" charset="0"/>
              <a:cs typeface="仿宋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214880" y="5973445"/>
            <a:ext cx="6628130" cy="5181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altLang="zh-CN" sz="2400">
                <a:solidFill>
                  <a:srgbClr val="0070C0"/>
                </a:solidFill>
                <a:latin typeface="微软雅黑" charset="0"/>
                <a:ea typeface="微软雅黑" charset="0"/>
                <a:hlinkClick r:id="rId2"/>
              </a:rPr>
              <a:t>人类为什么会有这么长的睡眠时间？</a:t>
            </a:r>
            <a:endParaRPr lang="en-US" altLang="zh-CN" sz="2400">
              <a:solidFill>
                <a:srgbClr val="0070C0"/>
              </a:solidFill>
              <a:latin typeface="微软雅黑" charset="0"/>
              <a:ea typeface="微软雅黑" charset="0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9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1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9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4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2214880" y="558165"/>
            <a:ext cx="7412990" cy="9315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3200" b="1">
                <a:solidFill>
                  <a:schemeClr val="bg1"/>
                </a:solidFill>
                <a:latin typeface="微软雅黑" charset="0"/>
                <a:ea typeface="微软雅黑" charset="0"/>
              </a:rPr>
              <a:t>问题</a:t>
            </a:r>
            <a:endParaRPr lang="zh-CN" altLang="en-US" sz="3200" b="1">
              <a:solidFill>
                <a:schemeClr val="bg1"/>
              </a:solidFill>
              <a:latin typeface="微软雅黑" charset="0"/>
              <a:ea typeface="微软雅黑" charset="0"/>
            </a:endParaRPr>
          </a:p>
        </p:txBody>
      </p:sp>
      <p:pic>
        <p:nvPicPr>
          <p:cNvPr id="11" name="图片 10" descr="2025-06-09 01:29:10.5840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595" y="146685"/>
            <a:ext cx="1754505" cy="175450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214880" y="1254760"/>
            <a:ext cx="6705600" cy="1188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3200">
                <a:latin typeface="黑体" charset="0"/>
                <a:ea typeface="黑体" charset="0"/>
              </a:rPr>
              <a:t>你认为</a:t>
            </a:r>
            <a:r>
              <a:rPr lang="en-US" altLang="zh-CN" sz="3200">
                <a:latin typeface="黑体" charset="0"/>
                <a:ea typeface="黑体" charset="0"/>
              </a:rPr>
              <a:t>你的睡眠质量如何</a:t>
            </a:r>
            <a:r>
              <a:rPr lang="zh-CN" altLang="en-US" sz="3200">
                <a:latin typeface="黑体" charset="0"/>
                <a:ea typeface="黑体" charset="0"/>
              </a:rPr>
              <a:t>？</a:t>
            </a:r>
            <a:endParaRPr lang="zh-CN" altLang="en-US" sz="3200">
              <a:latin typeface="黑体" charset="0"/>
              <a:ea typeface="黑体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395220" y="1901190"/>
            <a:ext cx="6705600" cy="1188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2000">
                <a:latin typeface="仿宋" charset="0"/>
                <a:ea typeface="仿宋" charset="0"/>
                <a:cs typeface="仿宋" charset="0"/>
              </a:rPr>
              <a:t>睡眠时长？</a:t>
            </a:r>
            <a:r>
              <a:rPr lang="en-US" altLang="zh-CN" sz="2000">
                <a:latin typeface="仿宋" charset="0"/>
                <a:ea typeface="仿宋" charset="0"/>
                <a:cs typeface="仿宋" charset="0"/>
              </a:rPr>
              <a:t>睡眠质量</a:t>
            </a:r>
            <a:r>
              <a:rPr lang="zh-CN" altLang="en-US" sz="2000">
                <a:latin typeface="仿宋" charset="0"/>
                <a:ea typeface="仿宋" charset="0"/>
                <a:cs typeface="仿宋" charset="0"/>
              </a:rPr>
              <a:t>？</a:t>
            </a:r>
            <a:r>
              <a:rPr lang="en-US" altLang="zh-CN" sz="2000">
                <a:latin typeface="仿宋" charset="0"/>
                <a:ea typeface="仿宋" charset="0"/>
                <a:cs typeface="仿宋" charset="0"/>
              </a:rPr>
              <a:t>有无失眠/多梦…</a:t>
            </a:r>
            <a:r>
              <a:rPr lang="zh-CN" altLang="en-US" sz="2000">
                <a:latin typeface="仿宋" charset="0"/>
                <a:ea typeface="仿宋" charset="0"/>
                <a:cs typeface="仿宋" charset="0"/>
              </a:rPr>
              <a:t>？</a:t>
            </a:r>
            <a:endParaRPr lang="zh-CN" altLang="en-US" sz="2000">
              <a:latin typeface="仿宋" charset="0"/>
              <a:ea typeface="仿宋" charset="0"/>
              <a:cs typeface="仿宋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14880" y="5095875"/>
            <a:ext cx="4655820" cy="5702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微软雅黑" charset="0"/>
                <a:ea typeface="微软雅黑" charset="0"/>
                <a:cs typeface="微软雅黑" charset="0"/>
                <a:hlinkClick r:id="rId2"/>
              </a:rPr>
              <a:t>超80%中小学生睡眠时长未达标</a:t>
            </a:r>
            <a:endParaRPr lang="zh-CN" altLang="en-US" sz="2400">
              <a:latin typeface="微软雅黑" charset="0"/>
              <a:ea typeface="微软雅黑" charset="0"/>
              <a:cs typeface="微软雅黑" charset="0"/>
              <a:hlinkClick r:id="rId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2214880" y="558165"/>
            <a:ext cx="7412990" cy="9315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3200" b="1">
                <a:solidFill>
                  <a:schemeClr val="bg1"/>
                </a:solidFill>
                <a:latin typeface="微软雅黑" charset="0"/>
                <a:ea typeface="微软雅黑" charset="0"/>
              </a:rPr>
              <a:t>数据</a:t>
            </a:r>
            <a:endParaRPr lang="zh-CN" altLang="en-US" sz="3200" b="1">
              <a:solidFill>
                <a:schemeClr val="bg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214880" y="1254760"/>
            <a:ext cx="6705600" cy="1188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3200">
                <a:latin typeface="黑体" charset="0"/>
                <a:ea typeface="黑体" charset="0"/>
              </a:rPr>
              <a:t>《2022中国国民健康睡眠白皮书》</a:t>
            </a:r>
            <a:endParaRPr lang="zh-CN" altLang="en-US" sz="3200">
              <a:latin typeface="黑体" charset="0"/>
              <a:ea typeface="黑体" charset="0"/>
            </a:endParaRPr>
          </a:p>
        </p:txBody>
      </p:sp>
      <p:pic>
        <p:nvPicPr>
          <p:cNvPr id="2" name="图片 1" descr="2025-06-09 01:37:25.6960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045" y="118745"/>
            <a:ext cx="1810385" cy="181038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214880" y="1929130"/>
            <a:ext cx="8689975" cy="1729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中小学生睡眠时长整体不足：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高中生平均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睡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6.5小时</a:t>
            </a:r>
            <a:endParaRPr lang="en-US" altLang="zh-CN" sz="2000">
              <a:latin typeface="微软雅黑" charset="0"/>
              <a:ea typeface="微软雅黑" charset="0"/>
              <a:cs typeface="微软雅黑" charset="0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初中生的睡眠时间平均为7.48小时，小学生为7.65小时</a:t>
            </a:r>
            <a:endParaRPr lang="en-US" altLang="zh-CN" sz="2000">
              <a:latin typeface="微软雅黑" charset="0"/>
              <a:ea typeface="微软雅黑" charset="0"/>
              <a:cs typeface="微软雅黑" charset="0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altLang="zh-CN" sz="2000">
              <a:latin typeface="微软雅黑" charset="0"/>
              <a:ea typeface="微软雅黑" charset="0"/>
              <a:cs typeface="微软雅黑" charset="0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六成中小学生平均睡眠时长增加的同时，睡眠不足8小时的占比也在增加，说明中小学生群体睡眠时长差异在减小，但总体上仍时长不足。</a:t>
            </a:r>
            <a:endParaRPr lang="en-US" altLang="zh-CN" sz="2000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4" name="图片 3" descr="2025-06-09 01:43:04.7950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880" y="3658235"/>
            <a:ext cx="5374005" cy="253555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" grpId="3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2214880" y="558165"/>
            <a:ext cx="7412990" cy="9315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3200" b="1">
                <a:solidFill>
                  <a:schemeClr val="bg1"/>
                </a:solidFill>
                <a:latin typeface="微软雅黑" charset="0"/>
                <a:ea typeface="微软雅黑" charset="0"/>
              </a:rPr>
              <a:t>数据</a:t>
            </a:r>
            <a:endParaRPr lang="zh-CN" altLang="en-US" sz="3200" b="1">
              <a:solidFill>
                <a:schemeClr val="bg1"/>
              </a:solidFill>
              <a:latin typeface="微软雅黑" charset="0"/>
              <a:ea typeface="微软雅黑" charset="0"/>
            </a:endParaRPr>
          </a:p>
        </p:txBody>
      </p:sp>
      <p:pic>
        <p:nvPicPr>
          <p:cNvPr id="4" name="图片 3" descr="2025-06-09 01:44:28.4830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4880" y="1229995"/>
            <a:ext cx="5896610" cy="38868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221345" y="1229995"/>
            <a:ext cx="3430905" cy="4320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黑体" charset="0"/>
                <a:ea typeface="黑体" charset="0"/>
              </a:rPr>
              <a:t>睡眠</a:t>
            </a:r>
            <a:r>
              <a:rPr lang="en-US" altLang="zh-CN" sz="2400">
                <a:latin typeface="黑体" charset="0"/>
                <a:ea typeface="黑体" charset="0"/>
              </a:rPr>
              <a:t>情况</a:t>
            </a:r>
            <a:r>
              <a:rPr lang="zh-CN" altLang="en-US" sz="2400">
                <a:latin typeface="黑体" charset="0"/>
                <a:ea typeface="黑体" charset="0"/>
              </a:rPr>
              <a:t>：</a:t>
            </a:r>
            <a:endParaRPr lang="zh-CN" altLang="en-US" sz="2400">
              <a:latin typeface="黑体" charset="0"/>
              <a:ea typeface="黑体" charset="0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altLang="zh-CN" sz="2400">
                <a:latin typeface="微软雅黑" charset="0"/>
                <a:ea typeface="微软雅黑" charset="0"/>
              </a:rPr>
              <a:t>失眠</a:t>
            </a:r>
            <a:r>
              <a:rPr lang="zh-CN" altLang="en-US" sz="2400">
                <a:latin typeface="微软雅黑" charset="0"/>
                <a:ea typeface="微软雅黑" charset="0"/>
              </a:rPr>
              <a:t>、</a:t>
            </a:r>
            <a:r>
              <a:rPr lang="en-US" altLang="zh-CN" sz="2400">
                <a:latin typeface="微软雅黑" charset="0"/>
                <a:ea typeface="微软雅黑" charset="0"/>
              </a:rPr>
              <a:t>多梦占比</a:t>
            </a:r>
            <a:r>
              <a:rPr lang="zh-CN" altLang="en-US" sz="2400">
                <a:latin typeface="微软雅黑" charset="0"/>
                <a:ea typeface="微软雅黑" charset="0"/>
              </a:rPr>
              <a:t>大</a:t>
            </a:r>
            <a:endParaRPr lang="zh-CN" altLang="en-US" sz="2400">
              <a:latin typeface="微软雅黑" charset="0"/>
              <a:ea typeface="微软雅黑" charset="0"/>
            </a:endParaRPr>
          </a:p>
        </p:txBody>
      </p:sp>
      <p:pic>
        <p:nvPicPr>
          <p:cNvPr id="7" name="图片 6" descr="2025-06-09 01:54:06.7520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45" y="191135"/>
            <a:ext cx="1670685" cy="166624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2214880" y="558165"/>
            <a:ext cx="7412990" cy="9315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3200" b="1">
                <a:solidFill>
                  <a:schemeClr val="bg1"/>
                </a:solidFill>
                <a:latin typeface="微软雅黑" charset="0"/>
                <a:ea typeface="微软雅黑" charset="0"/>
              </a:rPr>
              <a:t>数据</a:t>
            </a:r>
            <a:endParaRPr lang="zh-CN" altLang="en-US" sz="3200" b="1">
              <a:solidFill>
                <a:schemeClr val="bg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221345" y="1229995"/>
            <a:ext cx="3430905" cy="4320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微软雅黑" charset="0"/>
                <a:ea typeface="微软雅黑" charset="0"/>
              </a:rPr>
              <a:t>中学生</a:t>
            </a:r>
            <a:r>
              <a:rPr lang="en-US" altLang="zh-CN" sz="2400">
                <a:latin typeface="微软雅黑" charset="0"/>
                <a:ea typeface="微软雅黑" charset="0"/>
              </a:rPr>
              <a:t>上课打瞌睡情况非常普遍</a:t>
            </a:r>
            <a:r>
              <a:rPr lang="zh-CN" altLang="en-US" sz="2400">
                <a:latin typeface="微软雅黑" charset="0"/>
                <a:ea typeface="微软雅黑" charset="0"/>
              </a:rPr>
              <a:t>，</a:t>
            </a:r>
            <a:r>
              <a:rPr lang="en-US" altLang="zh-CN" sz="2400">
                <a:latin typeface="微软雅黑" charset="0"/>
                <a:ea typeface="微软雅黑" charset="0"/>
              </a:rPr>
              <a:t>调查显示</a:t>
            </a:r>
            <a:r>
              <a:rPr lang="zh-CN" altLang="en-US" sz="2400">
                <a:latin typeface="微软雅黑" charset="0"/>
                <a:ea typeface="微软雅黑" charset="0"/>
              </a:rPr>
              <a:t>一</a:t>
            </a:r>
            <a:r>
              <a:rPr lang="en-US" altLang="zh-CN" sz="2400">
                <a:latin typeface="微软雅黑" charset="0"/>
                <a:ea typeface="微软雅黑" charset="0"/>
              </a:rPr>
              <a:t>中学1个月内</a:t>
            </a:r>
            <a:r>
              <a:rPr lang="zh-CN" altLang="en-US" sz="2400">
                <a:latin typeface="微软雅黑" charset="0"/>
                <a:ea typeface="微软雅黑" charset="0"/>
              </a:rPr>
              <a:t>有</a:t>
            </a:r>
            <a:r>
              <a:rPr lang="en-US" altLang="zh-CN" sz="2400">
                <a:latin typeface="微软雅黑" charset="0"/>
                <a:ea typeface="微软雅黑" charset="0"/>
              </a:rPr>
              <a:t>91%的学生上课打瞌睡</a:t>
            </a:r>
            <a:r>
              <a:rPr lang="zh-CN" altLang="en-US" sz="2400">
                <a:latin typeface="微软雅黑" charset="0"/>
                <a:ea typeface="微软雅黑" charset="0"/>
              </a:rPr>
              <a:t>。</a:t>
            </a:r>
            <a:endParaRPr lang="zh-CN" altLang="en-US" sz="2400">
              <a:latin typeface="微软雅黑" charset="0"/>
              <a:ea typeface="微软雅黑" charset="0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altLang="zh-CN" sz="2400">
                <a:latin typeface="微软雅黑" charset="0"/>
                <a:ea typeface="微软雅黑" charset="0"/>
              </a:rPr>
              <a:t>72%的学生每天打瞌睡</a:t>
            </a:r>
            <a:r>
              <a:rPr lang="zh-CN" altLang="en-US" sz="2400">
                <a:latin typeface="微软雅黑" charset="0"/>
                <a:ea typeface="微软雅黑" charset="0"/>
              </a:rPr>
              <a:t>；</a:t>
            </a:r>
            <a:endParaRPr lang="zh-CN" altLang="en-US" sz="2400">
              <a:latin typeface="微软雅黑" charset="0"/>
              <a:ea typeface="微软雅黑" charset="0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altLang="zh-CN" sz="2400">
                <a:latin typeface="微软雅黑" charset="0"/>
                <a:ea typeface="微软雅黑" charset="0"/>
              </a:rPr>
              <a:t>每次打瞌睡市场平均</a:t>
            </a:r>
            <a:r>
              <a:rPr lang="zh-CN" altLang="en-US" sz="2400">
                <a:latin typeface="微软雅黑" charset="0"/>
                <a:ea typeface="微软雅黑" charset="0"/>
              </a:rPr>
              <a:t>达</a:t>
            </a:r>
            <a:r>
              <a:rPr lang="en-US" altLang="zh-CN" sz="2400">
                <a:latin typeface="微软雅黑" charset="0"/>
                <a:ea typeface="微软雅黑" charset="0"/>
              </a:rPr>
              <a:t>18分钟</a:t>
            </a:r>
            <a:endParaRPr lang="en-US" altLang="zh-CN" sz="2400">
              <a:latin typeface="微软雅黑" charset="0"/>
              <a:ea typeface="微软雅黑" charset="0"/>
            </a:endParaRPr>
          </a:p>
        </p:txBody>
      </p:sp>
      <p:pic>
        <p:nvPicPr>
          <p:cNvPr id="2" name="图片 1" descr="2025-06-09 01:48:18.6250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4880" y="1229995"/>
            <a:ext cx="5417820" cy="3835400"/>
          </a:xfrm>
          <a:prstGeom prst="rect">
            <a:avLst/>
          </a:prstGeom>
        </p:spPr>
      </p:pic>
      <p:pic>
        <p:nvPicPr>
          <p:cNvPr id="3" name="图片 2" descr="2025-06-09 01:49:47.6870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085" y="366395"/>
            <a:ext cx="1342390" cy="131572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25-06-09 16:29:41.9730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70180" y="-70485"/>
            <a:ext cx="12397740" cy="6918960"/>
          </a:xfrm>
          <a:prstGeom prst="rect">
            <a:avLst/>
          </a:prstGeom>
        </p:spPr>
      </p:pic>
      <p:sp>
        <p:nvSpPr>
          <p:cNvPr id="4" name="标题 3"/>
          <p:cNvSpPr/>
          <p:nvPr>
            <p:ph type="ctrTitle"/>
            <p:custDataLst>
              <p:tags r:id="rId2"/>
            </p:custDataLst>
          </p:nvPr>
        </p:nvSpPr>
        <p:spPr>
          <a:xfrm>
            <a:off x="2645410" y="2294255"/>
            <a:ext cx="6927215" cy="1216025"/>
          </a:xfrm>
        </p:spPr>
        <p:txBody>
          <a:bodyPr/>
          <a:lstStyle/>
          <a:p>
            <a:pPr algn="ctr" fontAlgn="auto"/>
            <a:r>
              <a:rPr lang="zh-CN" altLang="en-US" smtClean="0">
                <a:solidFill>
                  <a:schemeClr val="tx1"/>
                </a:solidFill>
              </a:rPr>
              <a:t>请在此处添加标题</a:t>
            </a:r>
            <a:endParaRPr lang="zh-CN" altLang="en-US" smtClean="0">
              <a:solidFill>
                <a:schemeClr val="tx1"/>
              </a:solidFill>
            </a:endParaRPr>
          </a:p>
        </p:txBody>
      </p:sp>
      <p:sp>
        <p:nvSpPr>
          <p:cNvPr id="5" name="副标题 4"/>
          <p:cNvSpPr/>
          <p:nvPr>
            <p:ph type="subTitle" idx="1"/>
            <p:custDataLst>
              <p:tags r:id="rId3"/>
            </p:custDataLst>
          </p:nvPr>
        </p:nvSpPr>
        <p:spPr/>
        <p:txBody>
          <a:bodyPr/>
          <a:lstStyle/>
          <a:p>
            <a:pPr algn="ctr" fontAlgn="auto"/>
            <a:r>
              <a:rPr lang="zh-CN" altLang="en-US" smtClean="0">
                <a:solidFill>
                  <a:schemeClr val="tx1"/>
                </a:solidFill>
              </a:rPr>
              <a:t>请在此处添加副标题</a:t>
            </a:r>
            <a:endParaRPr lang="zh-CN" altLang="en-US" smtClean="0"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2214880" y="558165"/>
            <a:ext cx="7412990" cy="9315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3200" b="1">
                <a:solidFill>
                  <a:schemeClr val="bg1"/>
                </a:solidFill>
                <a:latin typeface="微软雅黑" charset="0"/>
                <a:ea typeface="微软雅黑" charset="0"/>
              </a:rPr>
              <a:t>原因？</a:t>
            </a:r>
            <a:endParaRPr lang="zh-CN" altLang="en-US" sz="3200" b="1">
              <a:solidFill>
                <a:schemeClr val="bg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214880" y="1268730"/>
            <a:ext cx="9334500" cy="699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2800">
                <a:latin typeface="黑体" charset="0"/>
                <a:ea typeface="黑体" charset="0"/>
              </a:rPr>
              <a:t>你认为你</a:t>
            </a:r>
            <a:r>
              <a:rPr lang="en-US" altLang="zh-CN" sz="2800">
                <a:latin typeface="黑体" charset="0"/>
                <a:ea typeface="黑体" charset="0"/>
              </a:rPr>
              <a:t>睡眠</a:t>
            </a:r>
            <a:r>
              <a:rPr lang="zh-CN" altLang="en-US" sz="2800">
                <a:latin typeface="黑体" charset="0"/>
                <a:ea typeface="黑体" charset="0"/>
              </a:rPr>
              <a:t>好</a:t>
            </a:r>
            <a:r>
              <a:rPr lang="en-US" altLang="zh-CN" sz="2800">
                <a:latin typeface="黑体" charset="0"/>
                <a:ea typeface="黑体" charset="0"/>
              </a:rPr>
              <a:t>/</a:t>
            </a:r>
            <a:r>
              <a:rPr lang="zh-CN" altLang="en-US" sz="2800">
                <a:latin typeface="黑体" charset="0"/>
                <a:ea typeface="黑体" charset="0"/>
              </a:rPr>
              <a:t>坏的</a:t>
            </a:r>
            <a:r>
              <a:rPr lang="en-US" altLang="zh-CN" sz="2800">
                <a:latin typeface="黑体" charset="0"/>
                <a:ea typeface="黑体" charset="0"/>
              </a:rPr>
              <a:t>原因</a:t>
            </a:r>
            <a:r>
              <a:rPr lang="zh-CN" altLang="en-US" sz="2800">
                <a:latin typeface="黑体" charset="0"/>
                <a:ea typeface="黑体" charset="0"/>
              </a:rPr>
              <a:t>是</a:t>
            </a:r>
            <a:r>
              <a:rPr lang="en-US" altLang="zh-CN" sz="2800">
                <a:latin typeface="黑体" charset="0"/>
                <a:ea typeface="黑体" charset="0"/>
              </a:rPr>
              <a:t>…</a:t>
            </a:r>
            <a:r>
              <a:rPr lang="zh-CN" altLang="en-US" sz="2800">
                <a:latin typeface="黑体" charset="0"/>
                <a:ea typeface="黑体" charset="0"/>
              </a:rPr>
              <a:t>？</a:t>
            </a:r>
            <a:endParaRPr lang="zh-CN" altLang="en-US" sz="2800">
              <a:latin typeface="黑体" charset="0"/>
              <a:ea typeface="黑体" charset="0"/>
            </a:endParaRPr>
          </a:p>
        </p:txBody>
      </p:sp>
      <p:pic>
        <p:nvPicPr>
          <p:cNvPr id="6" name="图片 5" descr="2025-06-09 01:59:49.7910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725" y="172720"/>
            <a:ext cx="1496695" cy="149669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2214880" y="558165"/>
            <a:ext cx="7412990" cy="9315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3200" b="1">
                <a:solidFill>
                  <a:schemeClr val="bg1"/>
                </a:solidFill>
                <a:latin typeface="微软雅黑" charset="0"/>
                <a:ea typeface="微软雅黑" charset="0"/>
              </a:rPr>
              <a:t>原因？</a:t>
            </a:r>
            <a:endParaRPr lang="zh-CN" altLang="en-US" sz="3200" b="1">
              <a:solidFill>
                <a:schemeClr val="bg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214880" y="1268730"/>
            <a:ext cx="9334500" cy="699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微软雅黑" charset="0"/>
                <a:ea typeface="微软雅黑" charset="0"/>
              </a:rPr>
              <a:t>人际</a:t>
            </a:r>
            <a:r>
              <a:rPr lang="en-US" altLang="zh-CN" sz="2400">
                <a:latin typeface="微软雅黑" charset="0"/>
                <a:ea typeface="微软雅黑" charset="0"/>
              </a:rPr>
              <a:t>关系复杂</a:t>
            </a:r>
            <a:endParaRPr lang="en-US" altLang="zh-CN" sz="2400">
              <a:latin typeface="微软雅黑" charset="0"/>
              <a:ea typeface="微软雅黑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14880" y="1770380"/>
            <a:ext cx="6705600" cy="1188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Calibri" charset="0"/>
                <a:ea typeface="宋体" charset="-122"/>
              </a:rPr>
              <a:t>学习</a:t>
            </a:r>
            <a:r>
              <a:rPr lang="en-US" altLang="zh-CN" sz="2400">
                <a:latin typeface="Calibri" charset="0"/>
                <a:ea typeface="宋体" charset="-122"/>
              </a:rPr>
              <a:t>压力大</a:t>
            </a:r>
            <a:endParaRPr lang="en-US" altLang="zh-CN" sz="2400">
              <a:latin typeface="Calibri" charset="0"/>
              <a:ea typeface="宋体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214880" y="2247265"/>
            <a:ext cx="6705600" cy="1188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Calibri" charset="0"/>
                <a:ea typeface="宋体" charset="-122"/>
              </a:rPr>
              <a:t>家庭</a:t>
            </a:r>
            <a:r>
              <a:rPr lang="en-US" altLang="zh-CN" sz="2400">
                <a:latin typeface="Calibri" charset="0"/>
                <a:ea typeface="宋体" charset="-122"/>
              </a:rPr>
              <a:t>因素</a:t>
            </a:r>
            <a:endParaRPr lang="en-US" altLang="zh-CN" sz="2400">
              <a:latin typeface="Calibri" charset="0"/>
              <a:ea typeface="宋体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14880" y="2776855"/>
            <a:ext cx="5068570" cy="1304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Calibri" charset="0"/>
                <a:ea typeface="宋体" charset="-122"/>
              </a:rPr>
              <a:t>考试</a:t>
            </a:r>
            <a:r>
              <a:rPr lang="en-US" altLang="zh-CN" sz="2400">
                <a:latin typeface="Calibri" charset="0"/>
                <a:ea typeface="宋体" charset="-122"/>
              </a:rPr>
              <a:t>在即</a:t>
            </a:r>
            <a:endParaRPr lang="en-US" altLang="zh-CN" sz="2400">
              <a:latin typeface="Calibri" charset="0"/>
              <a:ea typeface="宋体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214880" y="3162935"/>
            <a:ext cx="6705600" cy="1124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altLang="zh-CN" sz="2400">
                <a:latin typeface="Calibri" charset="0"/>
                <a:ea typeface="Calibri" charset="0"/>
              </a:rPr>
              <a:t>……</a:t>
            </a:r>
            <a:endParaRPr lang="en-US" altLang="zh-CN" sz="2400">
              <a:latin typeface="Calibri" charset="0"/>
              <a:ea typeface="Calibri" charset="0"/>
            </a:endParaRPr>
          </a:p>
        </p:txBody>
      </p:sp>
      <p:pic>
        <p:nvPicPr>
          <p:cNvPr id="8" name="图片 7" descr="2025-06-09 02:19:05.890000"/>
          <p:cNvPicPr>
            <a:picLocks noChangeAspect="1"/>
          </p:cNvPicPr>
          <p:nvPr/>
        </p:nvPicPr>
        <p:blipFill>
          <a:blip r:embed="rId1"/>
          <a:srcRect l="-182" r="182"/>
          <a:stretch>
            <a:fillRect/>
          </a:stretch>
        </p:blipFill>
        <p:spPr>
          <a:xfrm>
            <a:off x="375285" y="222250"/>
            <a:ext cx="1537970" cy="143256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2" grpId="0"/>
      <p:bldP spid="3" grpId="0"/>
      <p:bldP spid="4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2214880" y="558165"/>
            <a:ext cx="7412990" cy="9315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3200" b="1">
                <a:solidFill>
                  <a:schemeClr val="bg1"/>
                </a:solidFill>
                <a:latin typeface="微软雅黑" charset="0"/>
                <a:ea typeface="微软雅黑" charset="0"/>
              </a:rPr>
              <a:t>原因？</a:t>
            </a:r>
            <a:endParaRPr lang="zh-CN" altLang="en-US" sz="3200" b="1">
              <a:solidFill>
                <a:schemeClr val="bg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214880" y="1268730"/>
            <a:ext cx="9334500" cy="699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3200">
                <a:latin typeface="黑体" charset="0"/>
                <a:ea typeface="黑体" charset="0"/>
              </a:rPr>
              <a:t>不良习惯</a:t>
            </a:r>
            <a:endParaRPr lang="zh-CN" altLang="en-US" sz="3200">
              <a:latin typeface="黑体" charset="0"/>
              <a:ea typeface="黑体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214880" y="1967865"/>
            <a:ext cx="9154160" cy="2141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微软雅黑" charset="0"/>
                <a:ea typeface="微软雅黑" charset="0"/>
              </a:rPr>
              <a:t>一些</a:t>
            </a:r>
            <a:r>
              <a:rPr lang="en-US" altLang="zh-CN" sz="2400">
                <a:latin typeface="微软雅黑" charset="0"/>
                <a:ea typeface="微软雅黑" charset="0"/>
              </a:rPr>
              <a:t>不良习惯也会影响入睡</a:t>
            </a:r>
            <a:r>
              <a:rPr lang="zh-CN" altLang="en-US" sz="2400">
                <a:latin typeface="微软雅黑" charset="0"/>
                <a:ea typeface="微软雅黑" charset="0"/>
              </a:rPr>
              <a:t>：</a:t>
            </a:r>
            <a:endParaRPr lang="zh-CN" altLang="en-US" sz="2400">
              <a:latin typeface="微软雅黑" charset="0"/>
              <a:ea typeface="微软雅黑" charset="0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altLang="zh-CN" sz="2400">
                <a:latin typeface="微软雅黑" charset="0"/>
                <a:ea typeface="微软雅黑" charset="0"/>
              </a:rPr>
              <a:t>吃夜宵</a:t>
            </a:r>
            <a:r>
              <a:rPr lang="zh-CN" altLang="en-US" sz="2400">
                <a:latin typeface="微软雅黑" charset="0"/>
                <a:ea typeface="微软雅黑" charset="0"/>
              </a:rPr>
              <a:t>，</a:t>
            </a:r>
            <a:r>
              <a:rPr lang="en-US" altLang="zh-CN" sz="2400">
                <a:latin typeface="微软雅黑" charset="0"/>
                <a:ea typeface="微软雅黑" charset="0"/>
              </a:rPr>
              <a:t>喝咖啡</a:t>
            </a:r>
            <a:r>
              <a:rPr lang="zh-CN" altLang="en-US" sz="2400">
                <a:latin typeface="微软雅黑" charset="0"/>
                <a:ea typeface="微软雅黑" charset="0"/>
              </a:rPr>
              <a:t>，</a:t>
            </a:r>
            <a:r>
              <a:rPr lang="en-US" altLang="zh-CN" sz="2400">
                <a:latin typeface="微软雅黑" charset="0"/>
                <a:ea typeface="微软雅黑" charset="0"/>
              </a:rPr>
              <a:t>边听音乐边睡</a:t>
            </a:r>
            <a:r>
              <a:rPr lang="zh-CN" altLang="en-US" sz="2400">
                <a:latin typeface="微软雅黑" charset="0"/>
                <a:ea typeface="微软雅黑" charset="0"/>
              </a:rPr>
              <a:t>，</a:t>
            </a:r>
            <a:r>
              <a:rPr lang="en-US" altLang="zh-CN" sz="2400">
                <a:latin typeface="微软雅黑" charset="0"/>
                <a:ea typeface="微软雅黑" charset="0"/>
              </a:rPr>
              <a:t>入睡太晚</a:t>
            </a:r>
            <a:endParaRPr lang="en-US" altLang="zh-CN" sz="2400">
              <a:latin typeface="微软雅黑" charset="0"/>
              <a:ea typeface="微软雅黑" charset="0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altLang="zh-CN" sz="2400">
                <a:latin typeface="微软雅黑" charset="0"/>
                <a:ea typeface="微软雅黑" charset="0"/>
              </a:rPr>
              <a:t>睡眠不规律</a:t>
            </a:r>
            <a:r>
              <a:rPr lang="zh-CN" altLang="en-US" sz="2400">
                <a:latin typeface="微软雅黑" charset="0"/>
                <a:ea typeface="微软雅黑" charset="0"/>
              </a:rPr>
              <a:t>，</a:t>
            </a:r>
            <a:r>
              <a:rPr lang="en-US" altLang="zh-CN" sz="2400">
                <a:latin typeface="微软雅黑" charset="0"/>
                <a:ea typeface="微软雅黑" charset="0"/>
              </a:rPr>
              <a:t>胡思乱想</a:t>
            </a:r>
            <a:r>
              <a:rPr lang="zh-CN" altLang="en-US" sz="2400">
                <a:latin typeface="微软雅黑" charset="0"/>
                <a:ea typeface="微软雅黑" charset="0"/>
              </a:rPr>
              <a:t>，</a:t>
            </a:r>
            <a:r>
              <a:rPr lang="en-US" altLang="zh-CN" sz="2400">
                <a:latin typeface="微软雅黑" charset="0"/>
                <a:ea typeface="微软雅黑" charset="0"/>
              </a:rPr>
              <a:t>运动少</a:t>
            </a:r>
            <a:endParaRPr lang="en-US" altLang="zh-CN" sz="2400">
              <a:latin typeface="微软雅黑" charset="0"/>
              <a:ea typeface="微软雅黑" charset="0"/>
            </a:endParaRPr>
          </a:p>
        </p:txBody>
      </p:sp>
      <p:pic>
        <p:nvPicPr>
          <p:cNvPr id="8" name="图片 7" descr="2025-06-09 02:14:09.3800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725" y="167005"/>
            <a:ext cx="1558290" cy="16033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7" grpId="0"/>
      <p:bldP spid="7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2214880" y="558165"/>
            <a:ext cx="7412990" cy="9315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3200" b="1">
                <a:solidFill>
                  <a:schemeClr val="bg1"/>
                </a:solidFill>
                <a:latin typeface="微软雅黑" charset="0"/>
                <a:ea typeface="微软雅黑" charset="0"/>
              </a:rPr>
              <a:t>解决方案</a:t>
            </a:r>
            <a:endParaRPr lang="zh-CN" altLang="en-US" sz="3200" b="1">
              <a:solidFill>
                <a:schemeClr val="bg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214880" y="1268730"/>
            <a:ext cx="9334500" cy="699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3200">
                <a:latin typeface="黑体" charset="0"/>
                <a:ea typeface="黑体" charset="0"/>
              </a:rPr>
              <a:t>睡前习惯</a:t>
            </a:r>
            <a:endParaRPr lang="zh-CN" altLang="en-US" sz="3200">
              <a:latin typeface="黑体" charset="0"/>
              <a:ea typeface="黑体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214880" y="1967865"/>
            <a:ext cx="9154160" cy="3637280"/>
          </a:xfrm>
          <a:prstGeom prst="rect">
            <a:avLst/>
          </a:prstGeom>
          <a:solidFill>
            <a:schemeClr val="bg1"/>
          </a:solidFill>
          <a:ln w="6350">
            <a:noFill/>
            <a:prstDash val="solid"/>
          </a:ln>
          <a:extLst>
            <a:ext uri="{91240B29-F687-4F45-9708-019B960494DF}">
              <a14:hiddenLine xmlns:a14="http://schemas.microsoft.com/office/drawing/2010/main" w="635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altLang="zh-CN" sz="3200">
                <a:latin typeface="微软雅黑" charset="0"/>
                <a:ea typeface="微软雅黑" charset="0"/>
              </a:rPr>
              <a:t>建立规律的作息时间</a:t>
            </a:r>
            <a:endParaRPr lang="en-US" altLang="zh-CN" sz="3200">
              <a:latin typeface="微软雅黑" charset="0"/>
              <a:ea typeface="微软雅黑" charset="0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altLang="zh-CN" sz="2400">
                <a:latin typeface="微软雅黑" charset="0"/>
                <a:ea typeface="微软雅黑" charset="0"/>
              </a:rPr>
              <a:t> ◦ 每天尽量在相同的时间上床睡觉和起床。人体的生物钟会适应这种规律，当你坚持一段时间后，身体会在接近入睡时间时自然产生困意。例如，设定每天晚上10点上床睡觉，早上6点起床，长期坚持，身体就会形成固定的睡眠 - 觉醒节律。</a:t>
            </a:r>
            <a:endParaRPr lang="en-US" altLang="zh-CN" sz="2400">
              <a:latin typeface="微软雅黑" charset="0"/>
              <a:ea typeface="微软雅黑" charset="0"/>
            </a:endParaRPr>
          </a:p>
        </p:txBody>
      </p:sp>
      <p:pic>
        <p:nvPicPr>
          <p:cNvPr id="2" name="图片 1" descr="2025-06-09 08:27:57.8310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700" y="161290"/>
            <a:ext cx="1621155" cy="162115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214880" y="1967865"/>
            <a:ext cx="9154160" cy="3637280"/>
          </a:xfrm>
          <a:prstGeom prst="rect">
            <a:avLst/>
          </a:prstGeom>
          <a:solidFill>
            <a:schemeClr val="bg1"/>
          </a:solidFill>
          <a:ln w="6350">
            <a:noFill/>
            <a:prstDash val="solid"/>
          </a:ln>
          <a:extLst>
            <a:ext uri="{91240B29-F687-4F45-9708-019B960494DF}">
              <a14:hiddenLine xmlns:a14="http://schemas.microsoft.com/office/drawing/2010/main" w="635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altLang="zh-CN" sz="2400">
                <a:latin typeface="微软雅黑" charset="0"/>
                <a:ea typeface="微软雅黑" charset="0"/>
              </a:rPr>
              <a:t> </a:t>
            </a:r>
            <a:r>
              <a:rPr lang="en-US" altLang="zh-CN" sz="3200">
                <a:latin typeface="微软雅黑" charset="0"/>
                <a:ea typeface="微软雅黑" charset="0"/>
              </a:rPr>
              <a:t>创造舒适的睡眠环境</a:t>
            </a:r>
            <a:endParaRPr lang="en-US" altLang="zh-CN" sz="3200">
              <a:latin typeface="微软雅黑" charset="0"/>
              <a:ea typeface="微软雅黑" charset="0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altLang="zh-CN" sz="2400">
                <a:latin typeface="微软雅黑" charset="0"/>
                <a:ea typeface="微软雅黑" charset="0"/>
              </a:rPr>
              <a:t> ◦ 调整卧室的温度。一般来说，较凉爽的环境更有利于睡眠，温度可以控制在24</a:t>
            </a:r>
            <a:r>
              <a:rPr lang="zh-CN" altLang="en-US" sz="2400">
                <a:latin typeface="微软雅黑" charset="0"/>
                <a:ea typeface="微软雅黑" charset="0"/>
              </a:rPr>
              <a:t>～</a:t>
            </a:r>
            <a:r>
              <a:rPr lang="en-US" altLang="zh-CN" sz="2400">
                <a:latin typeface="微软雅黑" charset="0"/>
                <a:ea typeface="微软雅黑" charset="0"/>
              </a:rPr>
              <a:t>26摄氏度左右。同时，确保卧室的光线足够暗，可以使用遮光窗帘。噪音也会影响睡眠，如果周围环境比较嘈杂，可以考虑使用耳塞或者白噪音机。白噪音机可以发出如雨声、海浪声等舒缓的声音，掩盖其他干扰性噪音。</a:t>
            </a:r>
            <a:endParaRPr lang="en-US" altLang="zh-CN" sz="2400">
              <a:latin typeface="微软雅黑" charset="0"/>
              <a:ea typeface="微软雅黑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214880" y="1967865"/>
            <a:ext cx="9154160" cy="3637280"/>
          </a:xfrm>
          <a:prstGeom prst="rect">
            <a:avLst/>
          </a:prstGeom>
          <a:solidFill>
            <a:schemeClr val="bg1"/>
          </a:solidFill>
          <a:ln w="6350">
            <a:noFill/>
            <a:prstDash val="solid"/>
          </a:ln>
          <a:extLst>
            <a:ext uri="{91240B29-F687-4F45-9708-019B960494DF}">
              <a14:hiddenLine xmlns:a14="http://schemas.microsoft.com/office/drawing/2010/main" w="635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altLang="zh-CN" sz="2400">
                <a:latin typeface="微软雅黑" charset="0"/>
                <a:ea typeface="微软雅黑" charset="0"/>
              </a:rPr>
              <a:t> </a:t>
            </a:r>
            <a:r>
              <a:rPr lang="en-US" altLang="zh-CN" sz="3200">
                <a:latin typeface="微软雅黑" charset="0"/>
                <a:ea typeface="微软雅黑" charset="0"/>
              </a:rPr>
              <a:t>睡前放松</a:t>
            </a:r>
            <a:endParaRPr lang="en-US" altLang="zh-CN" sz="3200">
              <a:latin typeface="微软雅黑" charset="0"/>
              <a:ea typeface="微软雅黑" charset="0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altLang="zh-CN" sz="2400">
                <a:latin typeface="微软雅黑" charset="0"/>
                <a:ea typeface="微软雅黑" charset="0"/>
              </a:rPr>
              <a:t> ◦ 避免在睡前进行刺激性的活动，比如看惊悚电影、玩刺激的游戏或者进行激烈的讨论。可以做一些放松的事情，如阅读纸质书籍（避免使用电子设备，因为电子设备的屏幕发出的蓝光会抑制褪黑素的分泌，褪黑素是一种调节睡眠 - 觉醒周期的激素）。也可以尝试泡一个温水澡，水温在38 - 40摄氏度左右，泡15 - 20分钟，泡完澡后身体会感觉放松，有助于入睡。</a:t>
            </a:r>
            <a:endParaRPr lang="en-US" altLang="zh-CN" sz="2400">
              <a:latin typeface="微软雅黑" charset="0"/>
              <a:ea typeface="微软雅黑" charset="0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7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9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7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9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7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9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2"/>
      <p:bldP spid="7" grpId="2" animBg="1"/>
      <p:bldP spid="3" grpId="2" animBg="1"/>
      <p:bldP spid="6" grpId="2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2214880" y="558165"/>
            <a:ext cx="7412990" cy="9315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3200" b="1">
                <a:solidFill>
                  <a:schemeClr val="bg1"/>
                </a:solidFill>
                <a:latin typeface="微软雅黑" charset="0"/>
                <a:ea typeface="微软雅黑" charset="0"/>
              </a:rPr>
              <a:t>解决方案</a:t>
            </a:r>
            <a:endParaRPr lang="zh-CN" altLang="en-US" sz="3200" b="1">
              <a:solidFill>
                <a:schemeClr val="bg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214880" y="1268730"/>
            <a:ext cx="9334500" cy="699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3200">
                <a:latin typeface="黑体" charset="0"/>
                <a:ea typeface="黑体" charset="0"/>
              </a:rPr>
              <a:t>心理调节</a:t>
            </a:r>
            <a:endParaRPr lang="zh-CN" altLang="en-US" sz="3200">
              <a:latin typeface="黑体" charset="0"/>
              <a:ea typeface="黑体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214880" y="1967865"/>
            <a:ext cx="9154160" cy="3637280"/>
          </a:xfrm>
          <a:prstGeom prst="rect">
            <a:avLst/>
          </a:prstGeom>
          <a:solidFill>
            <a:schemeClr val="bg1"/>
          </a:solidFill>
          <a:ln w="6350">
            <a:noFill/>
            <a:prstDash val="solid"/>
          </a:ln>
          <a:extLst>
            <a:ext uri="{91240B29-F687-4F45-9708-019B960494DF}">
              <a14:hiddenLine xmlns:a14="http://schemas.microsoft.com/office/drawing/2010/main" w="635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altLang="zh-CN" sz="3200">
                <a:latin typeface="微软雅黑" charset="0"/>
                <a:ea typeface="微软雅黑" charset="0"/>
              </a:rPr>
              <a:t>减轻压力</a:t>
            </a:r>
            <a:endParaRPr lang="en-US" altLang="zh-CN" sz="3200">
              <a:latin typeface="微软雅黑" charset="0"/>
              <a:ea typeface="微软雅黑" charset="0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altLang="zh-CN" sz="2400">
                <a:latin typeface="微软雅黑" charset="0"/>
                <a:ea typeface="微软雅黑" charset="0"/>
              </a:rPr>
              <a:t> ◦ 压力是导致睡眠质量差的常见原因之一。可以通过写日记的方式来梳理一天中的事情，把烦恼写出来，这样可以释放心理压力。也可以采用冥想的方式，找一个安静舒适的地方，闭上眼睛，专注于自己的呼吸，每次冥想10 - 15分钟，有助于缓解紧张情绪，让大脑进入放松状态。</a:t>
            </a:r>
            <a:endParaRPr lang="en-US" altLang="zh-CN" sz="2400">
              <a:latin typeface="微软雅黑" charset="0"/>
              <a:ea typeface="微软雅黑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14880" y="1967865"/>
            <a:ext cx="9154160" cy="3637280"/>
          </a:xfrm>
          <a:prstGeom prst="rect">
            <a:avLst/>
          </a:prstGeom>
          <a:solidFill>
            <a:schemeClr val="bg1"/>
          </a:solidFill>
          <a:ln w="6350">
            <a:noFill/>
            <a:prstDash val="solid"/>
          </a:ln>
          <a:extLst>
            <a:ext uri="{91240B29-F687-4F45-9708-019B960494DF}">
              <a14:hiddenLine xmlns:a14="http://schemas.microsoft.com/office/drawing/2010/main" w="635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altLang="zh-CN" sz="3200">
                <a:latin typeface="微软雅黑" charset="0"/>
                <a:ea typeface="微软雅黑" charset="0"/>
              </a:rPr>
              <a:t>应对焦虑情绪</a:t>
            </a:r>
            <a:endParaRPr lang="en-US" altLang="zh-CN" sz="3200">
              <a:latin typeface="微软雅黑" charset="0"/>
              <a:ea typeface="微软雅黑" charset="0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altLang="zh-CN" sz="2400">
                <a:latin typeface="微软雅黑" charset="0"/>
                <a:ea typeface="微软雅黑" charset="0"/>
              </a:rPr>
              <a:t> ◦ 如果因为对某些事情的焦虑而难以入睡，可以尝试“担忧时间”技巧。在睡前的几个小时，专门安排一段时间（比如30分钟）来思考那些让你焦虑的事情，列出问题和可能的解决方案。这样在睡前，大脑就不会再被这些焦虑的事情占据，从而更容易入睡。</a:t>
            </a:r>
            <a:endParaRPr lang="en-US" altLang="zh-CN" sz="2400">
              <a:latin typeface="微软雅黑" charset="0"/>
              <a:ea typeface="微软雅黑" charset="0"/>
            </a:endParaRPr>
          </a:p>
        </p:txBody>
      </p:sp>
      <p:pic>
        <p:nvPicPr>
          <p:cNvPr id="10" name="图片 9" descr="2025-06-09 08:48:40.992000"/>
          <p:cNvPicPr>
            <a:picLocks noChangeAspect="1"/>
          </p:cNvPicPr>
          <p:nvPr/>
        </p:nvPicPr>
        <p:blipFill>
          <a:blip r:embed="rId1"/>
          <a:srcRect r="16176" b="-1529"/>
          <a:stretch>
            <a:fillRect/>
          </a:stretch>
        </p:blipFill>
        <p:spPr>
          <a:xfrm>
            <a:off x="274320" y="271780"/>
            <a:ext cx="1656715" cy="150431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7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9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7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9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2"/>
      <p:bldP spid="7" grpId="2" animBg="1"/>
      <p:bldP spid="4" grpId="2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2214880" y="558165"/>
            <a:ext cx="7412990" cy="9315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3200" b="1">
                <a:solidFill>
                  <a:schemeClr val="bg1"/>
                </a:solidFill>
                <a:latin typeface="微软雅黑" charset="0"/>
                <a:ea typeface="微软雅黑" charset="0"/>
              </a:rPr>
              <a:t>解决方案</a:t>
            </a:r>
            <a:endParaRPr lang="zh-CN" altLang="en-US" sz="3200" b="1">
              <a:solidFill>
                <a:schemeClr val="bg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214880" y="1268730"/>
            <a:ext cx="9334500" cy="699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3200">
                <a:latin typeface="黑体" charset="0"/>
                <a:ea typeface="黑体" charset="0"/>
              </a:rPr>
              <a:t>饮食</a:t>
            </a:r>
            <a:r>
              <a:rPr lang="en-US" altLang="zh-CN" sz="3200">
                <a:latin typeface="黑体" charset="0"/>
                <a:ea typeface="黑体" charset="0"/>
              </a:rPr>
              <a:t>方面</a:t>
            </a:r>
            <a:endParaRPr lang="en-US" altLang="zh-CN" sz="3200">
              <a:latin typeface="黑体" charset="0"/>
              <a:ea typeface="黑体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14880" y="1967865"/>
            <a:ext cx="9154160" cy="3637280"/>
          </a:xfrm>
          <a:prstGeom prst="rect">
            <a:avLst/>
          </a:prstGeom>
          <a:solidFill>
            <a:schemeClr val="bg1"/>
          </a:solidFill>
          <a:ln w="6350">
            <a:noFill/>
            <a:prstDash val="solid"/>
          </a:ln>
          <a:extLst>
            <a:ext uri="{91240B29-F687-4F45-9708-019B960494DF}">
              <a14:hiddenLine xmlns:a14="http://schemas.microsoft.com/office/drawing/2010/main" w="635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altLang="zh-CN" sz="3200">
                <a:latin typeface="微软雅黑" charset="0"/>
                <a:ea typeface="微软雅黑" charset="0"/>
              </a:rPr>
              <a:t>避免刺激性食物</a:t>
            </a:r>
            <a:endParaRPr lang="en-US" altLang="zh-CN" sz="3200">
              <a:latin typeface="微软雅黑" charset="0"/>
              <a:ea typeface="微软雅黑" charset="0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altLang="zh-CN" sz="2400">
                <a:latin typeface="微软雅黑" charset="0"/>
                <a:ea typeface="微软雅黑" charset="0"/>
              </a:rPr>
              <a:t> ◦ 睡前避免饮用含有咖啡因的饮料，如咖啡、浓茶、可乐等。咖啡因是一种中枢神经兴奋剂，会干扰睡眠。同时，也要避免摄入过多的酒精。虽然酒精可能会让人感觉有困意，但它会干扰睡眠结构，导致睡眠质量下降，让人容易在夜间醒来。</a:t>
            </a:r>
            <a:endParaRPr lang="en-US" altLang="zh-CN" sz="2400">
              <a:latin typeface="微软雅黑" charset="0"/>
              <a:ea typeface="微软雅黑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14880" y="1869440"/>
            <a:ext cx="9154160" cy="3637280"/>
          </a:xfrm>
          <a:prstGeom prst="rect">
            <a:avLst/>
          </a:prstGeom>
          <a:solidFill>
            <a:schemeClr val="bg1"/>
          </a:solidFill>
          <a:ln w="6350">
            <a:noFill/>
            <a:prstDash val="solid"/>
          </a:ln>
          <a:extLst>
            <a:ext uri="{91240B29-F687-4F45-9708-019B960494DF}">
              <a14:hiddenLine xmlns:a14="http://schemas.microsoft.com/office/drawing/2010/main" w="635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altLang="zh-CN" sz="3200">
                <a:latin typeface="微软雅黑" charset="0"/>
                <a:ea typeface="微软雅黑" charset="0"/>
              </a:rPr>
              <a:t>选择助眠食物</a:t>
            </a:r>
            <a:endParaRPr lang="en-US" altLang="zh-CN" sz="3200">
              <a:latin typeface="微软雅黑" charset="0"/>
              <a:ea typeface="微软雅黑" charset="0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altLang="zh-CN" sz="2400">
                <a:latin typeface="微软雅黑" charset="0"/>
                <a:ea typeface="微软雅黑" charset="0"/>
              </a:rPr>
              <a:t> ◦ 可以在晚餐或者睡前适量吃一些含有色氨酸的食物。色氨酸是合成褪黑素的原料，有助于改善睡眠。例如，牛奶、香蕉、燕麦等食物都含有色氨酸。喝一杯温牛奶是一个比较传统的助眠方法，牛奶中的色氨酸可以在体内转化为褪黑素，促进睡眠。</a:t>
            </a:r>
            <a:endParaRPr lang="en-US" altLang="zh-CN" sz="2400">
              <a:latin typeface="微软雅黑" charset="0"/>
              <a:ea typeface="微软雅黑" charset="0"/>
            </a:endParaRPr>
          </a:p>
        </p:txBody>
      </p:sp>
      <p:pic>
        <p:nvPicPr>
          <p:cNvPr id="3" name="图片 2" descr="2025-06-09 08:47:02.1280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40" y="191135"/>
            <a:ext cx="1983740" cy="167830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7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9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7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9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2"/>
      <p:bldP spid="4" grpId="2" animBg="1"/>
      <p:bldP spid="2" grpId="2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2214880" y="558165"/>
            <a:ext cx="7412990" cy="9315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3200" b="1">
                <a:solidFill>
                  <a:schemeClr val="bg1"/>
                </a:solidFill>
                <a:latin typeface="微软雅黑" charset="0"/>
                <a:ea typeface="微软雅黑" charset="0"/>
              </a:rPr>
              <a:t>快速</a:t>
            </a:r>
            <a:r>
              <a:rPr lang="en-US" altLang="zh-CN" sz="3200" b="1">
                <a:solidFill>
                  <a:schemeClr val="bg1"/>
                </a:solidFill>
                <a:latin typeface="微软雅黑" charset="0"/>
                <a:ea typeface="微软雅黑" charset="0"/>
              </a:rPr>
              <a:t>入眠</a:t>
            </a:r>
            <a:r>
              <a:rPr lang="zh-CN" altLang="en-US" sz="3200" b="1">
                <a:solidFill>
                  <a:schemeClr val="bg1"/>
                </a:solidFill>
                <a:latin typeface="微软雅黑" charset="0"/>
                <a:ea typeface="微软雅黑" charset="0"/>
              </a:rPr>
              <a:t>法</a:t>
            </a:r>
            <a:r>
              <a:rPr lang="zh-CN" altLang="en-US" sz="3200" b="1">
                <a:solidFill>
                  <a:schemeClr val="bg1"/>
                </a:solidFill>
                <a:latin typeface="微软雅黑" charset="0"/>
                <a:ea typeface="微软雅黑" charset="0"/>
              </a:rPr>
              <a:t>！</a:t>
            </a:r>
            <a:endParaRPr lang="zh-CN" altLang="en-US" sz="3200" b="1">
              <a:solidFill>
                <a:schemeClr val="bg1"/>
              </a:solidFill>
              <a:latin typeface="微软雅黑" charset="0"/>
              <a:ea typeface="微软雅黑" charset="0"/>
            </a:endParaRPr>
          </a:p>
        </p:txBody>
      </p:sp>
      <p:pic>
        <p:nvPicPr>
          <p:cNvPr id="6" name="图片 5" descr="2025-06-09 08:47:45.5670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30" y="-26670"/>
            <a:ext cx="1740535" cy="1740535"/>
          </a:xfrm>
          <a:prstGeom prst="rect">
            <a:avLst/>
          </a:prstGeom>
        </p:spPr>
      </p:pic>
      <p:sp>
        <p:nvSpPr>
          <p:cNvPr id="7" name="文本框 6">
            <a:hlinkClick r:id="rId2" action="ppaction://hlinkfile"/>
          </p:cNvPr>
          <p:cNvSpPr txBox="1"/>
          <p:nvPr/>
        </p:nvSpPr>
        <p:spPr>
          <a:xfrm>
            <a:off x="2214880" y="1489710"/>
            <a:ext cx="1884680" cy="428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altLang="zh-CN" sz="2400">
                <a:solidFill>
                  <a:srgbClr val="0070C0"/>
                </a:solidFill>
                <a:latin typeface="Calibri" charset="0"/>
                <a:ea typeface="宋体" charset="-122"/>
                <a:hlinkClick r:id="rId2"/>
              </a:rPr>
              <a:t>快速入眠法</a:t>
            </a:r>
            <a:endParaRPr lang="en-US" altLang="zh-CN" sz="2400">
              <a:solidFill>
                <a:srgbClr val="0070C0"/>
              </a:solidFill>
              <a:latin typeface="Calibri" charset="0"/>
              <a:ea typeface="宋体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TEMPLATE_CATEGORY" val="preset"/>
  <p:tag name="KSO_WM_TEMPLATE_INDEX" val="11"/>
  <p:tag name="KSO_WM_UNIT_TYPE" val="a"/>
  <p:tag name="KSO_WM_UNIT_INDEX" val="1"/>
  <p:tag name="KSO_WM_UNIT_ID" val="256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" val="请在此处添加标题"/>
  <p:tag name="KSO_WM_BEAUTIFY_FLAG" val="#wm#"/>
  <p:tag name="KSO_WM_TAG_VERSION" val="1.0"/>
</p:tagLst>
</file>

<file path=ppt/tags/tag2.xml><?xml version="1.0" encoding="utf-8"?>
<p:tagLst xmlns:p="http://schemas.openxmlformats.org/presentationml/2006/main">
  <p:tag name="KSO_WM_TEMPLATE_CATEGORY" val="preset"/>
  <p:tag name="KSO_WM_TEMPLATE_INDEX" val="11"/>
  <p:tag name="KSO_WM_UNIT_TYPE" val="b"/>
  <p:tag name="KSO_WM_UNIT_INDEX" val="1"/>
  <p:tag name="KSO_WM_UNIT_ID" val="256*b*1"/>
  <p:tag name="KSO_WM_UNIT_CLEAR" val="1"/>
  <p:tag name="KSO_WM_UNIT_LAYERLEVEL" val="1"/>
  <p:tag name="KSO_WM_UNIT_VALUE" val="140"/>
  <p:tag name="KSO_WM_UNIT_ISCONTENTSTITLE" val="0"/>
  <p:tag name="KSO_WM_UNIT_HIGHLIGHT" val="0"/>
  <p:tag name="KSO_WM_UNIT_COMPATIBLE" val="0"/>
  <p:tag name="KSO_WM_UNIT_PRESET_TEXT" val="请在此处添加副标题"/>
  <p:tag name="KSO_WM_BEAUTIFY_FLAG" val="#wm#"/>
  <p:tag name="KSO_WM_TAG_VERSION" val="1.0"/>
</p:tagLst>
</file>

<file path=ppt/tags/tag3.xml><?xml version="1.0" encoding="utf-8"?>
<p:tagLst xmlns:p="http://schemas.openxmlformats.org/presentationml/2006/main">
  <p:tag name="KSO_WM_TEMPLATE_CATEGORY" val="preset"/>
  <p:tag name="KSO_WM_TEMPLATE_INDEX" val="11"/>
  <p:tag name="KSO_WM_TAG_VERSION" val="1.0"/>
  <p:tag name="KSO_WM_SLIDE_ID" val="preset11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4.xml><?xml version="1.0" encoding="utf-8"?>
<p:tagLst xmlns:p="http://schemas.openxmlformats.org/presentationml/2006/main">
  <p:tag name="KSO_WM_TEMPLATE_CATEGORY" val="preset"/>
  <p:tag name="KSO_WM_TEMPLATE_INDEX" val="11"/>
  <p:tag name="KSO_WM_TAG_VERSION" val="1.0"/>
  <p:tag name="KSO_WM_SLIDE_ID" val="preset11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5.xml><?xml version="1.0" encoding="utf-8"?>
<p:tagLst xmlns:p="http://schemas.openxmlformats.org/presentationml/2006/main">
  <p:tag name="KSO_WM_TEMPLATE_CATEGORY" val="preset"/>
  <p:tag name="KSO_WM_TEMPLATE_INDEX" val="11"/>
  <p:tag name="KSO_WM_TAG_VERSION" val="1.0"/>
  <p:tag name="KSO_WM_SLIDE_ID" val="preset11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6.xml><?xml version="1.0" encoding="utf-8"?>
<p:tagLst xmlns:p="http://schemas.openxmlformats.org/presentationml/2006/main">
  <p:tag name="KSO_WM_TEMPLATE_CATEGORY" val="preset"/>
  <p:tag name="KSO_WM_TEMPLATE_INDEX" val="11"/>
  <p:tag name="KSO_WM_TAG_VERSION" val="1.0"/>
  <p:tag name="KSO_WM_SLIDE_ID" val="preset11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7.xml><?xml version="1.0" encoding="utf-8"?>
<p:tagLst xmlns:p="http://schemas.openxmlformats.org/presentationml/2006/main">
  <p:tag name="KSO_WM_TEMPLATE_CATEGORY" val="preset"/>
  <p:tag name="KSO_WM_TEMPLATE_INDEX" val="11"/>
  <p:tag name="KSO_WM_TAG_VERSION" val="1.0"/>
  <p:tag name="KSO_WM_SLIDE_ID" val="preset11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8.xml><?xml version="1.0" encoding="utf-8"?>
<p:tagLst xmlns:p="http://schemas.openxmlformats.org/presentationml/2006/main">
  <p:tag name="KSO_WM_TEMPLATE_CATEGORY" val="preset"/>
  <p:tag name="KSO_WM_TEMPLATE_INDEX" val="11"/>
  <p:tag name="KSO_WM_TAG_VERSION" val="1.0"/>
  <p:tag name="KSO_WM_SLIDE_ID" val="preset11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9.xml><?xml version="1.0" encoding="utf-8"?>
<p:tagLst xmlns:p="http://schemas.openxmlformats.org/presentationml/2006/main">
  <p:tag name="KSO_WM_TEMPLATE_CATEGORY" val="preset"/>
  <p:tag name="KSO_WM_TEMPLATE_INDEX" val="11"/>
  <p:tag name="KSO_WM_UNIT_TYPE" val="a"/>
  <p:tag name="KSO_WM_UNIT_INDEX" val="1"/>
  <p:tag name="KSO_WM_UNIT_ID" val="256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" val="请在此处添加标题"/>
  <p:tag name="KSO_WM_BEAUTIFY_FLAG" val="#wm#"/>
  <p:tag name="KSO_WM_TAG_VERSION" val="1.0"/>
</p:tagLst>
</file>

<file path=ppt/tags/tag10.xml><?xml version="1.0" encoding="utf-8"?>
<p:tagLst xmlns:p="http://schemas.openxmlformats.org/presentationml/2006/main">
  <p:tag name="KSO_WM_TEMPLATE_CATEGORY" val="preset"/>
  <p:tag name="KSO_WM_TEMPLATE_INDEX" val="11"/>
  <p:tag name="KSO_WM_UNIT_TYPE" val="b"/>
  <p:tag name="KSO_WM_UNIT_INDEX" val="1"/>
  <p:tag name="KSO_WM_UNIT_ID" val="256*b*1"/>
  <p:tag name="KSO_WM_UNIT_CLEAR" val="1"/>
  <p:tag name="KSO_WM_UNIT_LAYERLEVEL" val="1"/>
  <p:tag name="KSO_WM_UNIT_VALUE" val="140"/>
  <p:tag name="KSO_WM_UNIT_ISCONTENTSTITLE" val="0"/>
  <p:tag name="KSO_WM_UNIT_HIGHLIGHT" val="0"/>
  <p:tag name="KSO_WM_UNIT_COMPATIBLE" val="0"/>
  <p:tag name="KSO_WM_UNIT_PRESET_TEXT" val="请在此处添加副标题"/>
  <p:tag name="KSO_WM_BEAUTIFY_FLAG" val="#wm#"/>
  <p:tag name="KSO_WM_TAG_VERSION" val="1.0"/>
</p:tagLst>
</file>

<file path=ppt/tags/tag11.xml><?xml version="1.0" encoding="utf-8"?>
<p:tagLst xmlns:p="http://schemas.openxmlformats.org/presentationml/2006/main">
  <p:tag name="KSO_WM_TEMPLATE_CATEGORY" val="preset"/>
  <p:tag name="KSO_WM_TEMPLATE_INDEX" val="11"/>
  <p:tag name="KSO_WM_TAG_VERSION" val="1.0"/>
  <p:tag name="KSO_WM_SLIDE_ID" val="preset11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12.xml><?xml version="1.0" encoding="utf-8"?>
<p:tagLst xmlns:p="http://schemas.openxmlformats.org/presentationml/2006/main">
  <p:tag name="KSO_WM_TEMPLATE_CATEGORY" val="preset"/>
  <p:tag name="KSO_WM_TEMPLATE_INDEX" val="11"/>
  <p:tag name="KSO_WM_TAG_VERSION" val="1.0"/>
  <p:tag name="KSO_WM_SLIDE_ID" val="preset11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13.xml><?xml version="1.0" encoding="utf-8"?>
<p:tagLst xmlns:p="http://schemas.openxmlformats.org/presentationml/2006/main">
  <p:tag name="KSO_WM_TEMPLATE_CATEGORY" val="preset"/>
  <p:tag name="KSO_WM_TEMPLATE_INDEX" val="11"/>
  <p:tag name="KSO_WM_TAG_VERSION" val="1.0"/>
  <p:tag name="KSO_WM_SLIDE_ID" val="preset11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14.xml><?xml version="1.0" encoding="utf-8"?>
<p:tagLst xmlns:p="http://schemas.openxmlformats.org/presentationml/2006/main">
  <p:tag name="KSO_WM_TEMPLATE_CATEGORY" val="preset"/>
  <p:tag name="KSO_WM_TEMPLATE_INDEX" val="11"/>
  <p:tag name="KSO_WM_TAG_VERSION" val="1.0"/>
  <p:tag name="KSO_WM_SLIDE_ID" val="preset11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15.xml><?xml version="1.0" encoding="utf-8"?>
<p:tagLst xmlns:p="http://schemas.openxmlformats.org/presentationml/2006/main">
  <p:tag name="KSO_WM_TEMPLATE_CATEGORY" val="preset"/>
  <p:tag name="KSO_WM_TEMPLATE_INDEX" val="11"/>
  <p:tag name="KSO_WM_TAG_VERSION" val="1.0"/>
  <p:tag name="KSO_WM_SLIDE_ID" val="preset11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16.xml><?xml version="1.0" encoding="utf-8"?>
<p:tagLst xmlns:p="http://schemas.openxmlformats.org/presentationml/2006/main">
  <p:tag name="KSO_WM_TEMPLATE_CATEGORY" val="preset"/>
  <p:tag name="KSO_WM_TEMPLATE_INDEX" val="11"/>
  <p:tag name="KSO_WM_TAG_VERSION" val="1.0"/>
  <p:tag name="KSO_WM_SLIDE_ID" val="preset11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17.xml><?xml version="1.0" encoding="utf-8"?>
<p:tagLst xmlns:p="http://schemas.openxmlformats.org/presentationml/2006/main">
  <p:tag name="KSO_WM_TEMPLATE_CATEGORY" val="preset"/>
  <p:tag name="KSO_WM_TEMPLATE_INDEX" val="11"/>
  <p:tag name="KSO_WM_TAG_VERSION" val="1.0"/>
  <p:tag name="KSO_WM_SLIDE_ID" val="preset11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18.xml><?xml version="1.0" encoding="utf-8"?>
<p:tagLst xmlns:p="http://schemas.openxmlformats.org/presentationml/2006/main">
  <p:tag name="KSO_WM_TEMPLATE_CATEGORY" val="preset"/>
  <p:tag name="KSO_WM_TEMPLATE_INDEX" val="11"/>
  <p:tag name="KSO_WM_TAG_VERSION" val="1.0"/>
  <p:tag name="KSO_WM_SLIDE_ID" val="preset11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/>
  <PresentationFormat>宽屏</PresentationFormat>
  <Paragraphs>2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仿宋</vt:lpstr>
      <vt:lpstr>黑体</vt:lpstr>
      <vt:lpstr>Calibri</vt:lpstr>
      <vt:lpstr>Calibri Light</vt:lpstr>
      <vt:lpstr>Office 主题</vt:lpstr>
      <vt:lpstr>睡眠质量研讨会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请在此处添加标题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Аng Κе </dc:creator>
  <cp:lastModifiedBy>iPad</cp:lastModifiedBy>
  <cp:revision>493</cp:revision>
  <dcterms:created xsi:type="dcterms:W3CDTF">1900-01-01T00:00:00Z</dcterms:created>
  <dcterms:modified xsi:type="dcterms:W3CDTF">1900-01-01T00:00:00Z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2052-12.6.0</vt:lpwstr>
  </property>
  <property fmtid="{D5CDD505-2E9C-101B-9397-08002B2CF9AE}" pid="3" name="ICV">
    <vt:lpwstr>944C0D54425DF2B5831E3C684C8BE56B_31</vt:lpwstr>
  </property>
</Properties>
</file>